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70" r:id="rId7"/>
    <p:sldId id="259" r:id="rId8"/>
    <p:sldId id="271" r:id="rId9"/>
    <p:sldId id="260" r:id="rId10"/>
    <p:sldId id="261" r:id="rId11"/>
    <p:sldId id="262" r:id="rId12"/>
    <p:sldId id="268" r:id="rId13"/>
    <p:sldId id="263" r:id="rId14"/>
    <p:sldId id="264" r:id="rId15"/>
    <p:sldId id="265" r:id="rId16"/>
    <p:sldId id="266" r:id="rId17"/>
    <p:sldId id="276" r:id="rId18"/>
    <p:sldId id="277" r:id="rId19"/>
    <p:sldId id="278" r:id="rId20"/>
    <p:sldId id="274" r:id="rId21"/>
    <p:sldId id="267" r:id="rId22"/>
    <p:sldId id="269" r:id="rId23"/>
  </p:sldIdLst>
  <p:sldSz cx="18288000" cy="10287000"/>
  <p:notesSz cx="6858000" cy="9144000"/>
  <p:embeddedFontLst>
    <p:embeddedFont>
      <p:font typeface="Calibri (MS)" panose="020B0604020202020204" charset="0"/>
      <p:regular r:id="rId24"/>
    </p:embeddedFont>
    <p:embeddedFont>
      <p:font typeface="Calibri (MS) Bold" panose="020B0604020202020204" charset="0"/>
      <p:regular r:id="rId25"/>
    </p:embeddedFont>
    <p:embeddedFont>
      <p:font typeface="Canva Sans" panose="020B0604020202020204" charset="0"/>
      <p:regular r:id="rId26"/>
    </p:embeddedFont>
    <p:embeddedFont>
      <p:font typeface="Canva Sans Bold" panose="020B0604020202020204" charset="0"/>
      <p:regular r:id="rId27"/>
    </p:embeddedFont>
    <p:embeddedFont>
      <p:font typeface="Times New Roman Bold" panose="02020803070505020304" pitchFamily="18" charset="0"/>
      <p:regular r:id="rId28"/>
      <p:bold r:id="rId29"/>
    </p:embeddedFont>
    <p:embeddedFont>
      <p:font typeface="Times New Roman Italics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95172-1DF1-BCBA-65A4-90A4192AFAC7}" v="3" dt="2026-05-25T14:02:14.313"/>
    <p1510:client id="{52CA6BDC-68C5-490E-A5C9-F2D3802E7F35}" v="99" dt="2026-05-25T12:17:42.828"/>
    <p1510:client id="{56BEFDF0-0D9D-0C64-FCD7-60FAFA70D167}" v="34" dt="2026-05-25T12:38:21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02336" cy="10287000"/>
            <a:chOff x="0" y="0"/>
            <a:chExt cx="53644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448" cy="13716000"/>
            </a:xfrm>
            <a:custGeom>
              <a:avLst/>
              <a:gdLst/>
              <a:ahLst/>
              <a:cxnLst/>
              <a:rect l="l" t="t" r="r" b="b"/>
              <a:pathLst>
                <a:path w="536448" h="13716000">
                  <a:moveTo>
                    <a:pt x="0" y="0"/>
                  </a:moveTo>
                  <a:lnTo>
                    <a:pt x="536448" y="0"/>
                  </a:lnTo>
                  <a:lnTo>
                    <a:pt x="53644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1828800"/>
            <a:ext cx="16459200" cy="1828800"/>
            <a:chOff x="0" y="0"/>
            <a:chExt cx="21945600" cy="2438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438400"/>
            </a:xfrm>
            <a:custGeom>
              <a:avLst/>
              <a:gdLst/>
              <a:ahLst/>
              <a:cxnLst/>
              <a:rect l="l" t="t" r="r" b="b"/>
              <a:pathLst>
                <a:path w="21945600" h="24384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5243" b="-12524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1707356"/>
            <a:ext cx="16459200" cy="1950244"/>
            <a:chOff x="0" y="0"/>
            <a:chExt cx="21945600" cy="26003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600325"/>
            </a:xfrm>
            <a:custGeom>
              <a:avLst/>
              <a:gdLst/>
              <a:ahLst/>
              <a:cxnLst/>
              <a:rect l="l" t="t" r="r" b="b"/>
              <a:pathLst>
                <a:path w="21945600" h="2600325">
                  <a:moveTo>
                    <a:pt x="0" y="0"/>
                  </a:moveTo>
                  <a:lnTo>
                    <a:pt x="21945600" y="0"/>
                  </a:lnTo>
                  <a:lnTo>
                    <a:pt x="21945600" y="2600325"/>
                  </a:lnTo>
                  <a:lnTo>
                    <a:pt x="0" y="2600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445" b="-11444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945600" cy="2638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4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Medical Laboratory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5955" y="3145155"/>
            <a:ext cx="16459200" cy="1645920"/>
            <a:chOff x="0" y="0"/>
            <a:chExt cx="21945600" cy="21945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2194560"/>
            </a:xfrm>
            <a:custGeom>
              <a:avLst/>
              <a:gdLst/>
              <a:ahLst/>
              <a:cxnLst/>
              <a:rect l="l" t="t" r="r" b="b"/>
              <a:pathLst>
                <a:path w="21945600" h="219456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714" b="-14471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5955" y="3023711"/>
            <a:ext cx="16459200" cy="1767364"/>
            <a:chOff x="0" y="0"/>
            <a:chExt cx="21945600" cy="23564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2356485"/>
            </a:xfrm>
            <a:custGeom>
              <a:avLst/>
              <a:gdLst/>
              <a:ahLst/>
              <a:cxnLst/>
              <a:rect l="l" t="t" r="r" b="b"/>
              <a:pathLst>
                <a:path w="21945600" h="2356485">
                  <a:moveTo>
                    <a:pt x="0" y="0"/>
                  </a:moveTo>
                  <a:lnTo>
                    <a:pt x="21945600" y="0"/>
                  </a:lnTo>
                  <a:lnTo>
                    <a:pt x="21945600" y="2356485"/>
                  </a:lnTo>
                  <a:lnTo>
                    <a:pt x="0" y="2356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461" b="-131461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1945600" cy="2394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400" b="1">
                  <a:solidFill>
                    <a:srgbClr val="00A8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03884" y="5143500"/>
            <a:ext cx="12892116" cy="119005"/>
            <a:chOff x="0" y="0"/>
            <a:chExt cx="17189488" cy="1586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189450" cy="158623"/>
            </a:xfrm>
            <a:custGeom>
              <a:avLst/>
              <a:gdLst/>
              <a:ahLst/>
              <a:cxnLst/>
              <a:rect l="l" t="t" r="r" b="b"/>
              <a:pathLst>
                <a:path w="17189450" h="158623">
                  <a:moveTo>
                    <a:pt x="0" y="0"/>
                  </a:moveTo>
                  <a:lnTo>
                    <a:pt x="17189450" y="0"/>
                  </a:lnTo>
                  <a:lnTo>
                    <a:pt x="17189450" y="158623"/>
                  </a:lnTo>
                  <a:lnTo>
                    <a:pt x="0" y="158623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577679" y="2194560"/>
            <a:ext cx="2560320" cy="2560320"/>
            <a:chOff x="0" y="0"/>
            <a:chExt cx="3413760" cy="34137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13760" cy="3413760"/>
            </a:xfrm>
            <a:custGeom>
              <a:avLst/>
              <a:gdLst/>
              <a:ahLst/>
              <a:cxnLst/>
              <a:rect l="l" t="t" r="r" b="b"/>
              <a:pathLst>
                <a:path w="3413760" h="3413760">
                  <a:moveTo>
                    <a:pt x="0" y="1706880"/>
                  </a:moveTo>
                  <a:cubicBezTo>
                    <a:pt x="0" y="764159"/>
                    <a:pt x="764159" y="0"/>
                    <a:pt x="1706880" y="0"/>
                  </a:cubicBezTo>
                  <a:cubicBezTo>
                    <a:pt x="2649601" y="0"/>
                    <a:pt x="3413760" y="764159"/>
                    <a:pt x="3413760" y="1706880"/>
                  </a:cubicBezTo>
                  <a:cubicBezTo>
                    <a:pt x="3413760" y="2649601"/>
                    <a:pt x="2649601" y="3413760"/>
                    <a:pt x="1706880" y="3413760"/>
                  </a:cubicBezTo>
                  <a:cubicBezTo>
                    <a:pt x="764159" y="3413760"/>
                    <a:pt x="0" y="2649601"/>
                    <a:pt x="0" y="1706880"/>
                  </a:cubicBezTo>
                  <a:close/>
                </a:path>
              </a:pathLst>
            </a:custGeom>
            <a:solidFill>
              <a:srgbClr val="0D5C8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577679" y="2194560"/>
            <a:ext cx="2560320" cy="2560320"/>
            <a:chOff x="0" y="0"/>
            <a:chExt cx="3413760" cy="34137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13760" cy="3413760"/>
            </a:xfrm>
            <a:custGeom>
              <a:avLst/>
              <a:gdLst/>
              <a:ahLst/>
              <a:cxnLst/>
              <a:rect l="l" t="t" r="r" b="b"/>
              <a:pathLst>
                <a:path w="3413760" h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577679" y="2115979"/>
            <a:ext cx="2560320" cy="2638901"/>
            <a:chOff x="0" y="0"/>
            <a:chExt cx="3413760" cy="35185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13760" cy="3518535"/>
            </a:xfrm>
            <a:custGeom>
              <a:avLst/>
              <a:gdLst/>
              <a:ahLst/>
              <a:cxnLst/>
              <a:rect l="l" t="t" r="r" b="b"/>
              <a:pathLst>
                <a:path w="3413760" h="3518535">
                  <a:moveTo>
                    <a:pt x="0" y="0"/>
                  </a:moveTo>
                  <a:lnTo>
                    <a:pt x="3413760" y="0"/>
                  </a:lnTo>
                  <a:lnTo>
                    <a:pt x="3413760" y="3518535"/>
                  </a:lnTo>
                  <a:lnTo>
                    <a:pt x="0" y="35185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241" r="-82241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413760" cy="3547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00A8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DB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577679" y="0"/>
            <a:ext cx="3710321" cy="1436789"/>
            <a:chOff x="0" y="0"/>
            <a:chExt cx="4947094" cy="19157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47031" cy="1915668"/>
            </a:xfrm>
            <a:custGeom>
              <a:avLst/>
              <a:gdLst/>
              <a:ahLst/>
              <a:cxnLst/>
              <a:rect l="l" t="t" r="r" b="b"/>
              <a:pathLst>
                <a:path w="4947031" h="1915668">
                  <a:moveTo>
                    <a:pt x="0" y="0"/>
                  </a:moveTo>
                  <a:lnTo>
                    <a:pt x="4947031" y="0"/>
                  </a:lnTo>
                  <a:lnTo>
                    <a:pt x="4947031" y="1915668"/>
                  </a:lnTo>
                  <a:lnTo>
                    <a:pt x="0" y="1915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929" r="-2930" b="-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6424555"/>
            <a:ext cx="5453005" cy="694944"/>
            <a:chOff x="0" y="0"/>
            <a:chExt cx="7270674" cy="9265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270623" cy="926592"/>
            </a:xfrm>
            <a:custGeom>
              <a:avLst/>
              <a:gdLst/>
              <a:ahLst/>
              <a:cxnLst/>
              <a:rect l="l" t="t" r="r" b="b"/>
              <a:pathLst>
                <a:path w="7270623" h="926592">
                  <a:moveTo>
                    <a:pt x="0" y="0"/>
                  </a:moveTo>
                  <a:lnTo>
                    <a:pt x="7270623" y="0"/>
                  </a:lnTo>
                  <a:lnTo>
                    <a:pt x="7270623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5C8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4400" y="7362387"/>
            <a:ext cx="5453005" cy="694944"/>
            <a:chOff x="0" y="0"/>
            <a:chExt cx="7270674" cy="926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70623" cy="926592"/>
            </a:xfrm>
            <a:custGeom>
              <a:avLst/>
              <a:gdLst/>
              <a:ahLst/>
              <a:cxnLst/>
              <a:rect l="l" t="t" r="r" b="b"/>
              <a:pathLst>
                <a:path w="7270623" h="926592">
                  <a:moveTo>
                    <a:pt x="0" y="0"/>
                  </a:moveTo>
                  <a:lnTo>
                    <a:pt x="7270623" y="0"/>
                  </a:lnTo>
                  <a:lnTo>
                    <a:pt x="7270623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5C8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4400" y="8257356"/>
            <a:ext cx="5453005" cy="694944"/>
            <a:chOff x="0" y="0"/>
            <a:chExt cx="7270674" cy="9265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270623" cy="926592"/>
            </a:xfrm>
            <a:custGeom>
              <a:avLst/>
              <a:gdLst/>
              <a:ahLst/>
              <a:cxnLst/>
              <a:rect l="l" t="t" r="r" b="b"/>
              <a:pathLst>
                <a:path w="7270623" h="926592">
                  <a:moveTo>
                    <a:pt x="0" y="0"/>
                  </a:moveTo>
                  <a:lnTo>
                    <a:pt x="7270623" y="0"/>
                  </a:lnTo>
                  <a:lnTo>
                    <a:pt x="7270623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5C8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" y="9199950"/>
            <a:ext cx="5453005" cy="694944"/>
            <a:chOff x="0" y="0"/>
            <a:chExt cx="7270674" cy="92659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270623" cy="926592"/>
            </a:xfrm>
            <a:custGeom>
              <a:avLst/>
              <a:gdLst/>
              <a:ahLst/>
              <a:cxnLst/>
              <a:rect l="l" t="t" r="r" b="b"/>
              <a:pathLst>
                <a:path w="7270623" h="926592">
                  <a:moveTo>
                    <a:pt x="0" y="0"/>
                  </a:moveTo>
                  <a:lnTo>
                    <a:pt x="7270623" y="0"/>
                  </a:lnTo>
                  <a:lnTo>
                    <a:pt x="7270623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5C8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54089" y="6438157"/>
            <a:ext cx="2725893" cy="694944"/>
            <a:chOff x="0" y="0"/>
            <a:chExt cx="3634524" cy="92659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634486" cy="926592"/>
            </a:xfrm>
            <a:custGeom>
              <a:avLst/>
              <a:gdLst/>
              <a:ahLst/>
              <a:cxnLst/>
              <a:rect l="l" t="t" r="r" b="b"/>
              <a:pathLst>
                <a:path w="3634486" h="926592">
                  <a:moveTo>
                    <a:pt x="0" y="0"/>
                  </a:moveTo>
                  <a:lnTo>
                    <a:pt x="3634486" y="0"/>
                  </a:lnTo>
                  <a:lnTo>
                    <a:pt x="3634486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5C8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54089" y="7347756"/>
            <a:ext cx="2725893" cy="694944"/>
            <a:chOff x="0" y="0"/>
            <a:chExt cx="3634524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634486" cy="926592"/>
            </a:xfrm>
            <a:custGeom>
              <a:avLst/>
              <a:gdLst/>
              <a:ahLst/>
              <a:cxnLst/>
              <a:rect l="l" t="t" r="r" b="b"/>
              <a:pathLst>
                <a:path w="3634486" h="926592">
                  <a:moveTo>
                    <a:pt x="0" y="0"/>
                  </a:moveTo>
                  <a:lnTo>
                    <a:pt x="3634486" y="0"/>
                  </a:lnTo>
                  <a:lnTo>
                    <a:pt x="3634486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5C8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54089" y="8257356"/>
            <a:ext cx="2725893" cy="694944"/>
            <a:chOff x="0" y="0"/>
            <a:chExt cx="3634524" cy="92659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34486" cy="926592"/>
            </a:xfrm>
            <a:custGeom>
              <a:avLst/>
              <a:gdLst/>
              <a:ahLst/>
              <a:cxnLst/>
              <a:rect l="l" t="t" r="r" b="b"/>
              <a:pathLst>
                <a:path w="3634486" h="926592">
                  <a:moveTo>
                    <a:pt x="0" y="0"/>
                  </a:moveTo>
                  <a:lnTo>
                    <a:pt x="3634486" y="0"/>
                  </a:lnTo>
                  <a:lnTo>
                    <a:pt x="3634486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5C8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54089" y="9258300"/>
            <a:ext cx="2725893" cy="694944"/>
            <a:chOff x="0" y="0"/>
            <a:chExt cx="3634524" cy="92659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634486" cy="926592"/>
            </a:xfrm>
            <a:custGeom>
              <a:avLst/>
              <a:gdLst/>
              <a:ahLst/>
              <a:cxnLst/>
              <a:rect l="l" t="t" r="r" b="b"/>
              <a:pathLst>
                <a:path w="3634486" h="926592">
                  <a:moveTo>
                    <a:pt x="0" y="0"/>
                  </a:moveTo>
                  <a:lnTo>
                    <a:pt x="3634486" y="0"/>
                  </a:lnTo>
                  <a:lnTo>
                    <a:pt x="3634486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5C8A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297476" y="6395418"/>
            <a:ext cx="4683662" cy="6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Malak Ashraf Ghoneim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47484" y="6395418"/>
            <a:ext cx="2532507" cy="64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241001356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08008" y="7280862"/>
            <a:ext cx="9818056" cy="6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241000534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97476" y="7324544"/>
            <a:ext cx="4683662" cy="6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Habiba Ahmed Fareed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11916" y="8219256"/>
            <a:ext cx="3240186" cy="6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Malak Ali Allam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71510" y="8225447"/>
            <a:ext cx="2494045" cy="64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241001107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11916" y="9114225"/>
            <a:ext cx="3331550" cy="6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Saria Mohamed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71510" y="9254023"/>
            <a:ext cx="2502027" cy="64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241002118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407108" y="47054"/>
            <a:ext cx="1809607" cy="1516304"/>
            <a:chOff x="0" y="0"/>
            <a:chExt cx="2412810" cy="202173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412873" cy="2021713"/>
            </a:xfrm>
            <a:custGeom>
              <a:avLst/>
              <a:gdLst/>
              <a:ahLst/>
              <a:cxnLst/>
              <a:rect l="l" t="t" r="r" b="b"/>
              <a:pathLst>
                <a:path w="2412873" h="2021713">
                  <a:moveTo>
                    <a:pt x="0" y="0"/>
                  </a:moveTo>
                  <a:lnTo>
                    <a:pt x="2412873" y="0"/>
                  </a:lnTo>
                  <a:lnTo>
                    <a:pt x="2412873" y="2021713"/>
                  </a:lnTo>
                  <a:lnTo>
                    <a:pt x="0" y="2021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1" r="2" b="-8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14400" y="5386330"/>
            <a:ext cx="11887200" cy="914400"/>
            <a:chOff x="0" y="0"/>
            <a:chExt cx="15849600" cy="1219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5849600" cy="1219200"/>
            </a:xfrm>
            <a:custGeom>
              <a:avLst/>
              <a:gdLst/>
              <a:ahLst/>
              <a:cxnLst/>
              <a:rect l="l" t="t" r="r" b="b"/>
              <a:pathLst>
                <a:path w="15849600" h="121920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3129" b="-20312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14400" y="5329180"/>
            <a:ext cx="11887200" cy="971550"/>
            <a:chOff x="0" y="0"/>
            <a:chExt cx="15849600" cy="1295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5849600" cy="1295400"/>
            </a:xfrm>
            <a:custGeom>
              <a:avLst/>
              <a:gdLst/>
              <a:ahLst/>
              <a:cxnLst/>
              <a:rect l="l" t="t" r="r" b="b"/>
              <a:pathLst>
                <a:path w="15849600" h="1295400">
                  <a:moveTo>
                    <a:pt x="0" y="0"/>
                  </a:moveTo>
                  <a:lnTo>
                    <a:pt x="15849600" y="0"/>
                  </a:lnTo>
                  <a:lnTo>
                    <a:pt x="1584960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405" b="-18840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28575"/>
              <a:ext cx="15849600" cy="1323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000" i="1">
                  <a:solidFill>
                    <a:srgbClr val="C8E6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Presented BY :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3667068" y="9580499"/>
            <a:ext cx="438154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Database and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554480"/>
            <a:chOff x="0" y="0"/>
            <a:chExt cx="24384000" cy="2072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72640"/>
            </a:xfrm>
            <a:custGeom>
              <a:avLst/>
              <a:gdLst/>
              <a:ahLst/>
              <a:cxnLst/>
              <a:rect l="l" t="t" r="r" b="b"/>
              <a:pathLst>
                <a:path w="24384000" h="207264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0"/>
            <a:ext cx="16459200" cy="1554480"/>
            <a:chOff x="0" y="0"/>
            <a:chExt cx="21945600" cy="2072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6168" b="-15616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520" y="-78581"/>
            <a:ext cx="16459200" cy="1633061"/>
            <a:chOff x="0" y="0"/>
            <a:chExt cx="21945600" cy="21774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177415"/>
            </a:xfrm>
            <a:custGeom>
              <a:avLst/>
              <a:gdLst/>
              <a:ahLst/>
              <a:cxnLst/>
              <a:rect l="l" t="t" r="r" b="b"/>
              <a:pathLst>
                <a:path w="21945600" h="2177415">
                  <a:moveTo>
                    <a:pt x="0" y="0"/>
                  </a:moveTo>
                  <a:lnTo>
                    <a:pt x="21945600" y="0"/>
                  </a:lnTo>
                  <a:lnTo>
                    <a:pt x="21945600" y="2177415"/>
                  </a:lnTo>
                  <a:lnTo>
                    <a:pt x="0" y="2177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384" b="-146384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205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Overview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31520" y="3464014"/>
            <a:ext cx="17007840" cy="3875246"/>
            <a:chOff x="0" y="0"/>
            <a:chExt cx="22677120" cy="51669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77120" cy="5166995"/>
            </a:xfrm>
            <a:custGeom>
              <a:avLst/>
              <a:gdLst/>
              <a:ahLst/>
              <a:cxnLst/>
              <a:rect l="l" t="t" r="r" b="b"/>
              <a:pathLst>
                <a:path w="22677120" h="5166995">
                  <a:moveTo>
                    <a:pt x="0" y="0"/>
                  </a:moveTo>
                  <a:lnTo>
                    <a:pt x="22677120" y="0"/>
                  </a:lnTo>
                  <a:lnTo>
                    <a:pt x="22677120" y="5166995"/>
                  </a:lnTo>
                  <a:lnTo>
                    <a:pt x="0" y="5166995"/>
                  </a:lnTo>
                  <a:close/>
                </a:path>
              </a:pathLst>
            </a:custGeom>
            <a:solidFill>
              <a:srgbClr val="E8F4F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2143487"/>
            <a:ext cx="1828800" cy="946080"/>
            <a:chOff x="0" y="0"/>
            <a:chExt cx="2438400" cy="12614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" cy="1261491"/>
            </a:xfrm>
            <a:custGeom>
              <a:avLst/>
              <a:gdLst/>
              <a:ahLst/>
              <a:cxnLst/>
              <a:rect l="l" t="t" r="r" b="b"/>
              <a:pathLst>
                <a:path w="2438400" h="1261491">
                  <a:moveTo>
                    <a:pt x="0" y="0"/>
                  </a:moveTo>
                  <a:lnTo>
                    <a:pt x="2438400" y="0"/>
                  </a:lnTo>
                  <a:lnTo>
                    <a:pt x="2438400" y="1261491"/>
                  </a:lnTo>
                  <a:lnTo>
                    <a:pt x="0" y="12614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420" r="-16420" b="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2072049"/>
            <a:ext cx="1828800" cy="1144166"/>
            <a:chOff x="0" y="0"/>
            <a:chExt cx="2438400" cy="15255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" cy="1525553"/>
            </a:xfrm>
            <a:custGeom>
              <a:avLst/>
              <a:gdLst/>
              <a:ahLst/>
              <a:cxnLst/>
              <a:rect l="l" t="t" r="r" b="b"/>
              <a:pathLst>
                <a:path w="2438400" h="1525553">
                  <a:moveTo>
                    <a:pt x="0" y="0"/>
                  </a:moveTo>
                  <a:lnTo>
                    <a:pt x="2438400" y="0"/>
                  </a:lnTo>
                  <a:lnTo>
                    <a:pt x="2438400" y="1525553"/>
                  </a:lnTo>
                  <a:lnTo>
                    <a:pt x="0" y="15255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86" r="-21386" b="11068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438400" cy="1563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839"/>
                </a:lnSpc>
              </a:pPr>
              <a:r>
                <a:rPr lang="en-US" sz="5698" b="1">
                  <a:solidFill>
                    <a:srgbClr val="00A8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Goal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97280" y="3923205"/>
            <a:ext cx="16276320" cy="2633605"/>
            <a:chOff x="0" y="0"/>
            <a:chExt cx="21701760" cy="35114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01761" cy="3511423"/>
            </a:xfrm>
            <a:custGeom>
              <a:avLst/>
              <a:gdLst/>
              <a:ahLst/>
              <a:cxnLst/>
              <a:rect l="l" t="t" r="r" b="b"/>
              <a:pathLst>
                <a:path w="21701761" h="3511423">
                  <a:moveTo>
                    <a:pt x="0" y="0"/>
                  </a:moveTo>
                  <a:lnTo>
                    <a:pt x="21701761" y="0"/>
                  </a:lnTo>
                  <a:lnTo>
                    <a:pt x="21701761" y="3511423"/>
                  </a:lnTo>
                  <a:lnTo>
                    <a:pt x="0" y="35114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0339" b="-7034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97280" y="3858911"/>
            <a:ext cx="16276320" cy="2697904"/>
            <a:chOff x="0" y="0"/>
            <a:chExt cx="21701760" cy="35972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01761" cy="3597211"/>
            </a:xfrm>
            <a:custGeom>
              <a:avLst/>
              <a:gdLst/>
              <a:ahLst/>
              <a:cxnLst/>
              <a:rect l="l" t="t" r="r" b="b"/>
              <a:pathLst>
                <a:path w="21701761" h="3597211">
                  <a:moveTo>
                    <a:pt x="0" y="0"/>
                  </a:moveTo>
                  <a:lnTo>
                    <a:pt x="21701761" y="0"/>
                  </a:lnTo>
                  <a:lnTo>
                    <a:pt x="21701761" y="3597211"/>
                  </a:lnTo>
                  <a:lnTo>
                    <a:pt x="0" y="35972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552" b="-67551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21701760" cy="36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919"/>
                </a:lnSpc>
              </a:pPr>
              <a:r>
                <a:rPr lang="en-US" sz="4098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and implement a relational database for a Medical Laboratory System that tracks laboratorians, patients, medical tests, test results, and lab components (materials).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554480"/>
            <a:chOff x="0" y="0"/>
            <a:chExt cx="24384000" cy="2072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72640"/>
            </a:xfrm>
            <a:custGeom>
              <a:avLst/>
              <a:gdLst/>
              <a:ahLst/>
              <a:cxnLst/>
              <a:rect l="l" t="t" r="r" b="b"/>
              <a:pathLst>
                <a:path w="24384000" h="207264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74647" y="377255"/>
            <a:ext cx="803814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D5C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ENTITIES &amp; ATTRIBUTES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00963" y="4986497"/>
            <a:ext cx="3291840" cy="3536920"/>
            <a:chOff x="0" y="0"/>
            <a:chExt cx="4389120" cy="40956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89120" cy="4095650"/>
            </a:xfrm>
            <a:custGeom>
              <a:avLst/>
              <a:gdLst/>
              <a:ahLst/>
              <a:cxnLst/>
              <a:rect l="l" t="t" r="r" b="b"/>
              <a:pathLst>
                <a:path w="4389120" h="4095650">
                  <a:moveTo>
                    <a:pt x="0" y="0"/>
                  </a:moveTo>
                  <a:lnTo>
                    <a:pt x="4389120" y="0"/>
                  </a:lnTo>
                  <a:lnTo>
                    <a:pt x="4389120" y="4095650"/>
                  </a:lnTo>
                  <a:lnTo>
                    <a:pt x="0" y="4095650"/>
                  </a:lnTo>
                  <a:close/>
                </a:path>
              </a:pathLst>
            </a:custGeom>
            <a:solidFill>
              <a:srgbClr val="E8F4F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30391" y="5037954"/>
            <a:ext cx="3291840" cy="3485463"/>
            <a:chOff x="0" y="0"/>
            <a:chExt cx="4389120" cy="40956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89120" cy="4095650"/>
            </a:xfrm>
            <a:custGeom>
              <a:avLst/>
              <a:gdLst/>
              <a:ahLst/>
              <a:cxnLst/>
              <a:rect l="l" t="t" r="r" b="b"/>
              <a:pathLst>
                <a:path w="4389120" h="4095650">
                  <a:moveTo>
                    <a:pt x="0" y="0"/>
                  </a:moveTo>
                  <a:lnTo>
                    <a:pt x="4389120" y="0"/>
                  </a:lnTo>
                  <a:lnTo>
                    <a:pt x="4389120" y="4095650"/>
                  </a:lnTo>
                  <a:lnTo>
                    <a:pt x="0" y="4095650"/>
                  </a:lnTo>
                  <a:close/>
                </a:path>
              </a:pathLst>
            </a:custGeom>
            <a:solidFill>
              <a:srgbClr val="E8F4F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724341" y="5054073"/>
            <a:ext cx="3437967" cy="3591028"/>
            <a:chOff x="0" y="0"/>
            <a:chExt cx="4389120" cy="40956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89120" cy="4095650"/>
            </a:xfrm>
            <a:custGeom>
              <a:avLst/>
              <a:gdLst/>
              <a:ahLst/>
              <a:cxnLst/>
              <a:rect l="l" t="t" r="r" b="b"/>
              <a:pathLst>
                <a:path w="4389120" h="4095650">
                  <a:moveTo>
                    <a:pt x="0" y="0"/>
                  </a:moveTo>
                  <a:lnTo>
                    <a:pt x="4389120" y="0"/>
                  </a:lnTo>
                  <a:lnTo>
                    <a:pt x="4389120" y="4095650"/>
                  </a:lnTo>
                  <a:lnTo>
                    <a:pt x="0" y="4095650"/>
                  </a:lnTo>
                  <a:close/>
                </a:path>
              </a:pathLst>
            </a:custGeom>
            <a:solidFill>
              <a:srgbClr val="E8F4F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94210" y="5088599"/>
            <a:ext cx="3291840" cy="3556502"/>
            <a:chOff x="0" y="0"/>
            <a:chExt cx="4389120" cy="40956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389120" cy="4095650"/>
            </a:xfrm>
            <a:custGeom>
              <a:avLst/>
              <a:gdLst/>
              <a:ahLst/>
              <a:cxnLst/>
              <a:rect l="l" t="t" r="r" b="b"/>
              <a:pathLst>
                <a:path w="4389120" h="4095650">
                  <a:moveTo>
                    <a:pt x="0" y="0"/>
                  </a:moveTo>
                  <a:lnTo>
                    <a:pt x="4389120" y="0"/>
                  </a:lnTo>
                  <a:lnTo>
                    <a:pt x="4389120" y="4095650"/>
                  </a:lnTo>
                  <a:lnTo>
                    <a:pt x="0" y="4095650"/>
                  </a:lnTo>
                  <a:close/>
                </a:path>
              </a:pathLst>
            </a:custGeom>
            <a:solidFill>
              <a:srgbClr val="E8F4F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895284" y="5088599"/>
            <a:ext cx="3291840" cy="3611963"/>
            <a:chOff x="0" y="0"/>
            <a:chExt cx="4389120" cy="40956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389120" cy="4095650"/>
            </a:xfrm>
            <a:custGeom>
              <a:avLst/>
              <a:gdLst/>
              <a:ahLst/>
              <a:cxnLst/>
              <a:rect l="l" t="t" r="r" b="b"/>
              <a:pathLst>
                <a:path w="4389120" h="4095650">
                  <a:moveTo>
                    <a:pt x="0" y="0"/>
                  </a:moveTo>
                  <a:lnTo>
                    <a:pt x="4389120" y="0"/>
                  </a:lnTo>
                  <a:lnTo>
                    <a:pt x="4389120" y="4095650"/>
                  </a:lnTo>
                  <a:lnTo>
                    <a:pt x="0" y="4095650"/>
                  </a:lnTo>
                  <a:close/>
                </a:path>
              </a:pathLst>
            </a:custGeom>
            <a:solidFill>
              <a:srgbClr val="E8F4F8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7" name="AutoShape 27"/>
          <p:cNvSpPr/>
          <p:nvPr/>
        </p:nvSpPr>
        <p:spPr>
          <a:xfrm>
            <a:off x="5749379" y="3579508"/>
            <a:ext cx="0" cy="132877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28" name="AutoShape 28"/>
          <p:cNvSpPr/>
          <p:nvPr/>
        </p:nvSpPr>
        <p:spPr>
          <a:xfrm>
            <a:off x="2257514" y="3579508"/>
            <a:ext cx="0" cy="13528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29" name="AutoShape 29"/>
          <p:cNvSpPr/>
          <p:nvPr/>
        </p:nvSpPr>
        <p:spPr>
          <a:xfrm>
            <a:off x="16541204" y="3579508"/>
            <a:ext cx="0" cy="136032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30" name="AutoShape 30"/>
          <p:cNvSpPr/>
          <p:nvPr/>
        </p:nvSpPr>
        <p:spPr>
          <a:xfrm>
            <a:off x="12955994" y="3579508"/>
            <a:ext cx="0" cy="136032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31" name="AutoShape 31"/>
          <p:cNvSpPr/>
          <p:nvPr/>
        </p:nvSpPr>
        <p:spPr>
          <a:xfrm>
            <a:off x="9389834" y="3579508"/>
            <a:ext cx="0" cy="132877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32" name="Group 32"/>
          <p:cNvGrpSpPr/>
          <p:nvPr/>
        </p:nvGrpSpPr>
        <p:grpSpPr>
          <a:xfrm>
            <a:off x="315932" y="5184386"/>
            <a:ext cx="3479689" cy="2702643"/>
            <a:chOff x="-1" y="-66675"/>
            <a:chExt cx="4639585" cy="360352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216400" cy="3536850"/>
            </a:xfrm>
            <a:custGeom>
              <a:avLst/>
              <a:gdLst/>
              <a:ahLst/>
              <a:cxnLst/>
              <a:rect l="l" t="t" r="r" b="b"/>
              <a:pathLst>
                <a:path w="4216400" h="3536850">
                  <a:moveTo>
                    <a:pt x="0" y="0"/>
                  </a:moveTo>
                  <a:lnTo>
                    <a:pt x="4216400" y="0"/>
                  </a:lnTo>
                  <a:lnTo>
                    <a:pt x="4216400" y="3536850"/>
                  </a:lnTo>
                  <a:lnTo>
                    <a:pt x="0" y="35368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0368" r="-125790" b="-6546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-1" y="-66675"/>
              <a:ext cx="4639585" cy="3603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75280" lvl="1" indent="-33764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Laboratorian_ID</a:t>
              </a:r>
              <a:endPara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675280" lvl="1" indent="-337640" algn="l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</a:t>
              </a:r>
            </a:p>
            <a:p>
              <a:pPr marL="675636" lvl="1" indent="-337818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Lab_Phone</a:t>
              </a:r>
              <a:r>
                <a:rPr lang="en-US" sz="279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marL="675636" lvl="1" indent="-337818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Lab_Address</a:t>
              </a:r>
              <a:r>
                <a:rPr lang="en-US" sz="279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(Street, City, Apt)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957155" y="4908287"/>
            <a:ext cx="3561036" cy="3483474"/>
            <a:chOff x="0" y="0"/>
            <a:chExt cx="4748048" cy="464463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201160" cy="4095650"/>
            </a:xfrm>
            <a:custGeom>
              <a:avLst/>
              <a:gdLst/>
              <a:ahLst/>
              <a:cxnLst/>
              <a:rect l="l" t="t" r="r" b="b"/>
              <a:pathLst>
                <a:path w="4201160" h="4095650">
                  <a:moveTo>
                    <a:pt x="0" y="0"/>
                  </a:moveTo>
                  <a:lnTo>
                    <a:pt x="4201160" y="0"/>
                  </a:lnTo>
                  <a:lnTo>
                    <a:pt x="4201160" y="4095650"/>
                  </a:lnTo>
                  <a:lnTo>
                    <a:pt x="0" y="40956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0841" r="-126609" b="-4288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1008" y="482308"/>
              <a:ext cx="4617040" cy="4162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75280" lvl="1" indent="-33764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Patient_ID</a:t>
              </a:r>
              <a:endPara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675636" lvl="1" indent="-337818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Patient_Name</a:t>
              </a:r>
              <a:endPara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675280" lvl="1" indent="-33764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Patient_Phone</a:t>
              </a:r>
              <a:endPara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675280" lvl="1" indent="-33764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Patient_Address</a:t>
              </a:r>
              <a:endPara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675636" lvl="1" indent="-337818" algn="l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</a:t>
              </a:r>
            </a:p>
            <a:p>
              <a:pPr marL="675280" lvl="1" indent="-33764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Birth_Date</a:t>
              </a:r>
              <a:endPara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675636" lvl="1" indent="-337818" algn="l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 (Derived)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52708" y="5223775"/>
            <a:ext cx="4272866" cy="3903149"/>
            <a:chOff x="-1289475" y="-1315257"/>
            <a:chExt cx="5697155" cy="5478494"/>
          </a:xfrm>
        </p:grpSpPr>
        <p:sp>
          <p:nvSpPr>
            <p:cNvPr id="39" name="Freeform 39"/>
            <p:cNvSpPr/>
            <p:nvPr/>
          </p:nvSpPr>
          <p:spPr>
            <a:xfrm>
              <a:off x="-356852" y="67587"/>
              <a:ext cx="4764532" cy="4095650"/>
            </a:xfrm>
            <a:custGeom>
              <a:avLst/>
              <a:gdLst/>
              <a:ahLst/>
              <a:cxnLst/>
              <a:rect l="l" t="t" r="r" b="b"/>
              <a:pathLst>
                <a:path w="4764532" h="4095650">
                  <a:moveTo>
                    <a:pt x="0" y="0"/>
                  </a:moveTo>
                  <a:lnTo>
                    <a:pt x="4764532" y="0"/>
                  </a:lnTo>
                  <a:lnTo>
                    <a:pt x="4764532" y="4095650"/>
                  </a:lnTo>
                  <a:lnTo>
                    <a:pt x="0" y="40956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370" r="-99814" b="-4288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-1289475" y="-1315257"/>
              <a:ext cx="5225080" cy="4162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75280" lvl="1" indent="-337640" algn="l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 ID</a:t>
              </a:r>
            </a:p>
            <a:p>
              <a:pPr marL="675636" lvl="1" indent="-337818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Name_of</a:t>
              </a:r>
              <a:r>
                <a:rPr lang="en-US" sz="279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components</a:t>
              </a:r>
            </a:p>
            <a:p>
              <a:pPr marL="675636" lvl="1" indent="-337818" algn="l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Available_ Quantity</a:t>
              </a:r>
            </a:p>
            <a:p>
              <a:pPr marL="675636" lvl="1" indent="-337818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Minimum_Quantity</a:t>
              </a:r>
              <a:endPara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249769" y="5289888"/>
            <a:ext cx="3902789" cy="32303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675280" lvl="1" indent="-337640" algn="l">
              <a:lnSpc>
                <a:spcPts val="3359"/>
              </a:lnSpc>
              <a:buFont typeface="Arial"/>
              <a:buChar char="•"/>
            </a:pPr>
            <a:r>
              <a:rPr lang="en-US" sz="2799" err="1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Test_ID</a:t>
            </a:r>
            <a:endParaRPr lang="en-US" sz="2799">
              <a:solidFill>
                <a:srgbClr val="1A1A2E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75636" lvl="1" indent="-337818" algn="l">
              <a:lnSpc>
                <a:spcPts val="3359"/>
              </a:lnSpc>
              <a:buFont typeface="Arial"/>
              <a:buChar char="•"/>
            </a:pPr>
            <a:r>
              <a:rPr lang="en-US" sz="2799" err="1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Name_Of</a:t>
            </a:r>
            <a:r>
              <a: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 _</a:t>
            </a:r>
            <a:r>
              <a:rPr lang="en-US" sz="2799" err="1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Medical_Test</a:t>
            </a:r>
            <a:endParaRPr lang="en-US" sz="2799">
              <a:solidFill>
                <a:srgbClr val="1A1A2E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75636" lvl="1" indent="-337818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Price</a:t>
            </a:r>
          </a:p>
          <a:p>
            <a:pPr marL="675280" lvl="1" indent="-33764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Related_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      Components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4611439" y="4757568"/>
            <a:ext cx="3229291" cy="2922069"/>
            <a:chOff x="0" y="0"/>
            <a:chExt cx="4305721" cy="38960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206240" cy="2280920"/>
            </a:xfrm>
            <a:custGeom>
              <a:avLst/>
              <a:gdLst/>
              <a:ahLst/>
              <a:cxnLst/>
              <a:rect l="l" t="t" r="r" b="b"/>
              <a:pathLst>
                <a:path w="4206240" h="2280920">
                  <a:moveTo>
                    <a:pt x="0" y="0"/>
                  </a:moveTo>
                  <a:lnTo>
                    <a:pt x="4206240" y="0"/>
                  </a:lnTo>
                  <a:lnTo>
                    <a:pt x="4206240" y="2280920"/>
                  </a:lnTo>
                  <a:lnTo>
                    <a:pt x="0" y="2280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0683" r="-126335" b="-156570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481" y="1548497"/>
              <a:ext cx="4206240" cy="2347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75280" lvl="1" indent="-33764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Test_Result_ID</a:t>
              </a:r>
              <a:endPara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675280" lvl="1" indent="-337640" algn="l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</a:t>
              </a:r>
            </a:p>
            <a:p>
              <a:pPr marL="675280" lvl="1" indent="-33764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err="1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TS_Date</a:t>
              </a:r>
              <a:endParaRPr lang="en-US" sz="27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E45737B-FEE8-69C5-6E8F-9A0A25814390}"/>
              </a:ext>
            </a:extLst>
          </p:cNvPr>
          <p:cNvGrpSpPr/>
          <p:nvPr/>
        </p:nvGrpSpPr>
        <p:grpSpPr>
          <a:xfrm>
            <a:off x="434709" y="2313820"/>
            <a:ext cx="17558385" cy="1211580"/>
            <a:chOff x="546735" y="3931920"/>
            <a:chExt cx="17558385" cy="1211580"/>
          </a:xfrm>
        </p:grpSpPr>
        <p:grpSp>
          <p:nvGrpSpPr>
            <p:cNvPr id="7" name="Group 7"/>
            <p:cNvGrpSpPr/>
            <p:nvPr/>
          </p:nvGrpSpPr>
          <p:grpSpPr>
            <a:xfrm>
              <a:off x="548640" y="3931920"/>
              <a:ext cx="3291840" cy="1211580"/>
              <a:chOff x="0" y="0"/>
              <a:chExt cx="4389120" cy="16154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389120" cy="1615440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161544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1615440"/>
                    </a:lnTo>
                    <a:lnTo>
                      <a:pt x="0" y="1615440"/>
                    </a:lnTo>
                    <a:close/>
                  </a:path>
                </a:pathLst>
              </a:custGeom>
              <a:solidFill>
                <a:srgbClr val="0D5C8A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114800" y="3931920"/>
              <a:ext cx="3291840" cy="1211580"/>
              <a:chOff x="0" y="0"/>
              <a:chExt cx="4389120" cy="161544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389120" cy="1615440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161544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1615440"/>
                    </a:lnTo>
                    <a:lnTo>
                      <a:pt x="0" y="1615440"/>
                    </a:lnTo>
                    <a:close/>
                  </a:path>
                </a:pathLst>
              </a:custGeom>
              <a:solidFill>
                <a:srgbClr val="0D5C8A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7680960" y="3931920"/>
              <a:ext cx="3291840" cy="1211580"/>
              <a:chOff x="0" y="0"/>
              <a:chExt cx="4389120" cy="161544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389120" cy="1615440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161544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1615440"/>
                    </a:lnTo>
                    <a:lnTo>
                      <a:pt x="0" y="1615440"/>
                    </a:lnTo>
                    <a:close/>
                  </a:path>
                </a:pathLst>
              </a:custGeom>
              <a:solidFill>
                <a:srgbClr val="0D5C8A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1247120" y="3931920"/>
              <a:ext cx="3291840" cy="1211580"/>
              <a:chOff x="0" y="0"/>
              <a:chExt cx="4389120" cy="161544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389120" cy="1615440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161544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1615440"/>
                    </a:lnTo>
                    <a:lnTo>
                      <a:pt x="0" y="1615440"/>
                    </a:lnTo>
                    <a:close/>
                  </a:path>
                </a:pathLst>
              </a:custGeom>
              <a:solidFill>
                <a:srgbClr val="0D5C8A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4813280" y="3931920"/>
              <a:ext cx="3291840" cy="1211580"/>
              <a:chOff x="0" y="0"/>
              <a:chExt cx="4389120" cy="161544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389120" cy="1615440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161544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1615440"/>
                    </a:lnTo>
                    <a:lnTo>
                      <a:pt x="0" y="1615440"/>
                    </a:lnTo>
                    <a:close/>
                  </a:path>
                </a:pathLst>
              </a:custGeom>
              <a:solidFill>
                <a:srgbClr val="0D5C8A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46735" y="4229432"/>
              <a:ext cx="3291840" cy="595572"/>
              <a:chOff x="0" y="0"/>
              <a:chExt cx="4389120" cy="79409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389120" cy="794096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794096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794096"/>
                    </a:lnTo>
                    <a:lnTo>
                      <a:pt x="0" y="7940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213" b="-72181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57150"/>
                <a:ext cx="4389120" cy="8512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599"/>
                  </a:lnSpc>
                </a:pPr>
                <a:r>
                  <a:rPr lang="en-US" sz="29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Laboratorian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4114800" y="4229432"/>
              <a:ext cx="3291840" cy="595572"/>
              <a:chOff x="0" y="0"/>
              <a:chExt cx="4389120" cy="79409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389120" cy="794096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794096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794096"/>
                    </a:lnTo>
                    <a:lnTo>
                      <a:pt x="0" y="7940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213" b="-72181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57150"/>
                <a:ext cx="4389120" cy="8512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599"/>
                  </a:lnSpc>
                </a:pPr>
                <a:r>
                  <a:rPr lang="en-US" sz="29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Patient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679055" y="4229432"/>
              <a:ext cx="3291840" cy="595572"/>
              <a:chOff x="0" y="0"/>
              <a:chExt cx="4389120" cy="79409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4389120" cy="794096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794096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794096"/>
                    </a:lnTo>
                    <a:lnTo>
                      <a:pt x="0" y="7940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213" b="-72181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57150"/>
                <a:ext cx="4389120" cy="8512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599"/>
                  </a:lnSpc>
                </a:pPr>
                <a:r>
                  <a:rPr lang="en-US" sz="29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Component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11256264" y="4229432"/>
              <a:ext cx="3291840" cy="595572"/>
              <a:chOff x="0" y="0"/>
              <a:chExt cx="4389120" cy="79409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4389120" cy="794096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794096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794096"/>
                    </a:lnTo>
                    <a:lnTo>
                      <a:pt x="0" y="7940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213" b="-72181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57150"/>
                <a:ext cx="4389120" cy="8512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599"/>
                  </a:lnSpc>
                </a:pPr>
                <a:r>
                  <a:rPr lang="en-US" sz="29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Medical Test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4685264" y="4229432"/>
              <a:ext cx="3291840" cy="595572"/>
              <a:chOff x="0" y="0"/>
              <a:chExt cx="4389120" cy="79409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4389120" cy="794096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794096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794096"/>
                    </a:lnTo>
                    <a:lnTo>
                      <a:pt x="0" y="7940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213" b="-72181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57150"/>
                <a:ext cx="4389120" cy="8512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599"/>
                  </a:lnSpc>
                </a:pPr>
                <a:r>
                  <a:rPr lang="en-US" sz="29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Test Result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554480"/>
            <a:chOff x="0" y="0"/>
            <a:chExt cx="24384000" cy="2072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72640"/>
            </a:xfrm>
            <a:custGeom>
              <a:avLst/>
              <a:gdLst/>
              <a:ahLst/>
              <a:cxnLst/>
              <a:rect l="l" t="t" r="r" b="b"/>
              <a:pathLst>
                <a:path w="24384000" h="207264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0"/>
            <a:ext cx="16459200" cy="1554480"/>
            <a:chOff x="0" y="0"/>
            <a:chExt cx="21945600" cy="2072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6168" b="-15616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520" y="-78581"/>
            <a:ext cx="16459200" cy="1633061"/>
            <a:chOff x="0" y="0"/>
            <a:chExt cx="21945600" cy="21774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177415"/>
            </a:xfrm>
            <a:custGeom>
              <a:avLst/>
              <a:gdLst/>
              <a:ahLst/>
              <a:cxnLst/>
              <a:rect l="l" t="t" r="r" b="b"/>
              <a:pathLst>
                <a:path w="21945600" h="2177415">
                  <a:moveTo>
                    <a:pt x="0" y="0"/>
                  </a:moveTo>
                  <a:lnTo>
                    <a:pt x="21945600" y="0"/>
                  </a:lnTo>
                  <a:lnTo>
                    <a:pt x="21945600" y="2177415"/>
                  </a:lnTo>
                  <a:lnTo>
                    <a:pt x="0" y="2177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384" b="-146384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205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Conceptual Design  –  ER Diagram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8640" y="9893551"/>
            <a:ext cx="17190720" cy="512064"/>
            <a:chOff x="0" y="0"/>
            <a:chExt cx="22920960" cy="682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20961" cy="682752"/>
            </a:xfrm>
            <a:custGeom>
              <a:avLst/>
              <a:gdLst/>
              <a:ahLst/>
              <a:cxnLst/>
              <a:rect l="l" t="t" r="r" b="b"/>
              <a:pathLst>
                <a:path w="22920961" h="682752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3684" b="-603686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9864976"/>
            <a:ext cx="17190720" cy="540639"/>
            <a:chOff x="0" y="0"/>
            <a:chExt cx="22920960" cy="7208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920961" cy="720852"/>
            </a:xfrm>
            <a:custGeom>
              <a:avLst/>
              <a:gdLst/>
              <a:ahLst/>
              <a:cxnLst/>
              <a:rect l="l" t="t" r="r" b="b"/>
              <a:pathLst>
                <a:path w="22920961" h="720852">
                  <a:moveTo>
                    <a:pt x="0" y="0"/>
                  </a:moveTo>
                  <a:lnTo>
                    <a:pt x="22920961" y="0"/>
                  </a:lnTo>
                  <a:lnTo>
                    <a:pt x="22920961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9566" b="-569566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2920960" cy="7399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i="1">
                  <a:solidFill>
                    <a:srgbClr val="5A7A8C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Fig 1 – Entity-Relationship Diagram (Conceptual Model)</a:t>
              </a:r>
            </a:p>
          </p:txBody>
        </p:sp>
      </p:grpSp>
      <p:pic>
        <p:nvPicPr>
          <p:cNvPr id="16" name="Picture 15" descr="A diagram of a company&#10;&#10;AI-generated content may be incorrect.">
            <a:extLst>
              <a:ext uri="{FF2B5EF4-FFF2-40B4-BE49-F238E27FC236}">
                <a16:creationId xmlns:a16="http://schemas.microsoft.com/office/drawing/2014/main" id="{B25A01D8-AF36-883F-6112-2BFC3FA92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359" y="1558633"/>
            <a:ext cx="15828328" cy="83473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15056-9ECE-6044-590F-DA821C8C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54ED41B-2678-8781-32F0-732588234748}"/>
              </a:ext>
            </a:extLst>
          </p:cNvPr>
          <p:cNvGrpSpPr/>
          <p:nvPr/>
        </p:nvGrpSpPr>
        <p:grpSpPr>
          <a:xfrm>
            <a:off x="0" y="0"/>
            <a:ext cx="18288000" cy="1554480"/>
            <a:chOff x="0" y="0"/>
            <a:chExt cx="24384000" cy="207264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2C9FC0A-70C8-E411-C8A0-88F853236C8B}"/>
                </a:ext>
              </a:extLst>
            </p:cNvPr>
            <p:cNvSpPr/>
            <p:nvPr/>
          </p:nvSpPr>
          <p:spPr>
            <a:xfrm>
              <a:off x="0" y="0"/>
              <a:ext cx="24384000" cy="2072640"/>
            </a:xfrm>
            <a:custGeom>
              <a:avLst/>
              <a:gdLst/>
              <a:ahLst/>
              <a:cxnLst/>
              <a:rect l="l" t="t" r="r" b="b"/>
              <a:pathLst>
                <a:path w="24384000" h="207264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DBD74D6-3892-E227-B521-6CCF00229739}"/>
              </a:ext>
            </a:extLst>
          </p:cNvPr>
          <p:cNvGrpSpPr/>
          <p:nvPr/>
        </p:nvGrpSpPr>
        <p:grpSpPr>
          <a:xfrm>
            <a:off x="731520" y="0"/>
            <a:ext cx="16459200" cy="1554480"/>
            <a:chOff x="0" y="0"/>
            <a:chExt cx="21945600" cy="207264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C135777-0A94-11E8-DF61-9A51D6B1AEEE}"/>
                </a:ext>
              </a:extLst>
            </p:cNvPr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6168" b="-15616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78CAE21-C945-E2E0-0FF4-47467C2821A7}"/>
              </a:ext>
            </a:extLst>
          </p:cNvPr>
          <p:cNvGrpSpPr/>
          <p:nvPr/>
        </p:nvGrpSpPr>
        <p:grpSpPr>
          <a:xfrm>
            <a:off x="5926975" y="-100012"/>
            <a:ext cx="16459200" cy="1654492"/>
            <a:chOff x="0" y="-28575"/>
            <a:chExt cx="21945600" cy="220599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AFBCED8-018E-9CFE-3B1A-781C22B0AFA7}"/>
                </a:ext>
              </a:extLst>
            </p:cNvPr>
            <p:cNvSpPr/>
            <p:nvPr/>
          </p:nvSpPr>
          <p:spPr>
            <a:xfrm>
              <a:off x="0" y="0"/>
              <a:ext cx="21945600" cy="2177415"/>
            </a:xfrm>
            <a:custGeom>
              <a:avLst/>
              <a:gdLst/>
              <a:ahLst/>
              <a:cxnLst/>
              <a:rect l="l" t="t" r="r" b="b"/>
              <a:pathLst>
                <a:path w="21945600" h="2177415">
                  <a:moveTo>
                    <a:pt x="0" y="0"/>
                  </a:moveTo>
                  <a:lnTo>
                    <a:pt x="21945600" y="0"/>
                  </a:lnTo>
                  <a:lnTo>
                    <a:pt x="21945600" y="2177415"/>
                  </a:lnTo>
                  <a:lnTo>
                    <a:pt x="0" y="2177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384" b="-146384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F84EEDA-5BA4-9EE5-6368-87EAE6CCED18}"/>
                </a:ext>
              </a:extLst>
            </p:cNvPr>
            <p:cNvSpPr txBox="1"/>
            <p:nvPr/>
          </p:nvSpPr>
          <p:spPr>
            <a:xfrm>
              <a:off x="0" y="-28575"/>
              <a:ext cx="21945600" cy="2205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6240"/>
                </a:lnSpc>
              </a:pPr>
              <a:r>
                <a:rPr lang="en-US" sz="5200">
                  <a:solidFill>
                    <a:srgbClr val="FFFFFF"/>
                  </a:solidFill>
                  <a:ea typeface="+mn-lt"/>
                  <a:cs typeface="+mn-lt"/>
                  <a:sym typeface="Times New Roman Bold"/>
                </a:rPr>
                <a:t>Physical EER Model</a:t>
              </a:r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1A5F014-BE3E-78A1-0316-4CE6679E9D36}"/>
              </a:ext>
            </a:extLst>
          </p:cNvPr>
          <p:cNvGrpSpPr/>
          <p:nvPr/>
        </p:nvGrpSpPr>
        <p:grpSpPr>
          <a:xfrm>
            <a:off x="548640" y="9893551"/>
            <a:ext cx="17190720" cy="512064"/>
            <a:chOff x="0" y="0"/>
            <a:chExt cx="22920960" cy="6827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E28E876-5561-F565-DE6D-803B863B2A91}"/>
                </a:ext>
              </a:extLst>
            </p:cNvPr>
            <p:cNvSpPr/>
            <p:nvPr/>
          </p:nvSpPr>
          <p:spPr>
            <a:xfrm>
              <a:off x="0" y="0"/>
              <a:ext cx="22920961" cy="682752"/>
            </a:xfrm>
            <a:custGeom>
              <a:avLst/>
              <a:gdLst/>
              <a:ahLst/>
              <a:cxnLst/>
              <a:rect l="l" t="t" r="r" b="b"/>
              <a:pathLst>
                <a:path w="22920961" h="682752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3684" b="-603686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350CCC7-4B2F-57F2-102B-C4363B0782FF}"/>
              </a:ext>
            </a:extLst>
          </p:cNvPr>
          <p:cNvGrpSpPr/>
          <p:nvPr/>
        </p:nvGrpSpPr>
        <p:grpSpPr>
          <a:xfrm>
            <a:off x="548640" y="9864976"/>
            <a:ext cx="17190720" cy="540639"/>
            <a:chOff x="0" y="0"/>
            <a:chExt cx="22920960" cy="72085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3848E0F-4587-FE3C-2594-4DEE31B0CE96}"/>
                </a:ext>
              </a:extLst>
            </p:cNvPr>
            <p:cNvSpPr/>
            <p:nvPr/>
          </p:nvSpPr>
          <p:spPr>
            <a:xfrm>
              <a:off x="0" y="0"/>
              <a:ext cx="22920961" cy="720852"/>
            </a:xfrm>
            <a:custGeom>
              <a:avLst/>
              <a:gdLst/>
              <a:ahLst/>
              <a:cxnLst/>
              <a:rect l="l" t="t" r="r" b="b"/>
              <a:pathLst>
                <a:path w="22920961" h="720852">
                  <a:moveTo>
                    <a:pt x="0" y="0"/>
                  </a:moveTo>
                  <a:lnTo>
                    <a:pt x="22920961" y="0"/>
                  </a:lnTo>
                  <a:lnTo>
                    <a:pt x="22920961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9566" b="-569566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D1085BE-96F2-33E2-D7F6-C931D6D8472A}"/>
                </a:ext>
              </a:extLst>
            </p:cNvPr>
            <p:cNvSpPr txBox="1"/>
            <p:nvPr/>
          </p:nvSpPr>
          <p:spPr>
            <a:xfrm>
              <a:off x="0" y="-19050"/>
              <a:ext cx="22920960" cy="7399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i="1">
                  <a:solidFill>
                    <a:srgbClr val="5A7A8C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Fig 2– Physical ERD (MySQL Workbench)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B38B08E-D6ED-6E3C-DAE7-B14C8AF7A210}"/>
              </a:ext>
            </a:extLst>
          </p:cNvPr>
          <p:cNvGrpSpPr/>
          <p:nvPr/>
        </p:nvGrpSpPr>
        <p:grpSpPr>
          <a:xfrm>
            <a:off x="4146495" y="1617697"/>
            <a:ext cx="10001180" cy="8270652"/>
            <a:chOff x="0" y="0"/>
            <a:chExt cx="9116784" cy="1164336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09FE8DC-A18D-2EB0-8D9F-3FFE197389C3}"/>
                </a:ext>
              </a:extLst>
            </p:cNvPr>
            <p:cNvSpPr/>
            <p:nvPr/>
          </p:nvSpPr>
          <p:spPr>
            <a:xfrm>
              <a:off x="0" y="0"/>
              <a:ext cx="9116822" cy="11643360"/>
            </a:xfrm>
            <a:custGeom>
              <a:avLst/>
              <a:gdLst/>
              <a:ahLst/>
              <a:cxnLst/>
              <a:rect l="l" t="t" r="r" b="b"/>
              <a:pathLst>
                <a:path w="9116822" h="11643360">
                  <a:moveTo>
                    <a:pt x="0" y="0"/>
                  </a:moveTo>
                  <a:lnTo>
                    <a:pt x="9116822" y="0"/>
                  </a:lnTo>
                  <a:lnTo>
                    <a:pt x="9116822" y="11643360"/>
                  </a:lnTo>
                  <a:lnTo>
                    <a:pt x="0" y="1164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821" b="-282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25981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554480"/>
            <a:chOff x="0" y="0"/>
            <a:chExt cx="24384000" cy="2072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72640"/>
            </a:xfrm>
            <a:custGeom>
              <a:avLst/>
              <a:gdLst/>
              <a:ahLst/>
              <a:cxnLst/>
              <a:rect l="l" t="t" r="r" b="b"/>
              <a:pathLst>
                <a:path w="24384000" h="207264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0"/>
            <a:ext cx="16459200" cy="1554480"/>
            <a:chOff x="0" y="0"/>
            <a:chExt cx="21945600" cy="2072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6168" b="-15616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520" y="-78581"/>
            <a:ext cx="16459200" cy="1633061"/>
            <a:chOff x="0" y="0"/>
            <a:chExt cx="21945600" cy="21774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177415"/>
            </a:xfrm>
            <a:custGeom>
              <a:avLst/>
              <a:gdLst/>
              <a:ahLst/>
              <a:cxnLst/>
              <a:rect l="l" t="t" r="r" b="b"/>
              <a:pathLst>
                <a:path w="21945600" h="2177415">
                  <a:moveTo>
                    <a:pt x="0" y="0"/>
                  </a:moveTo>
                  <a:lnTo>
                    <a:pt x="21945600" y="0"/>
                  </a:lnTo>
                  <a:lnTo>
                    <a:pt x="21945600" y="2177415"/>
                  </a:lnTo>
                  <a:lnTo>
                    <a:pt x="0" y="2177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384" b="-146384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205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Relational Schema  –  Table Map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6339859" y="9546469"/>
            <a:ext cx="17190720" cy="457200"/>
            <a:chOff x="0" y="0"/>
            <a:chExt cx="22920960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20961" cy="609600"/>
            </a:xfrm>
            <a:custGeom>
              <a:avLst/>
              <a:gdLst/>
              <a:ahLst/>
              <a:cxnLst/>
              <a:rect l="l" t="t" r="r" b="b"/>
              <a:pathLst>
                <a:path w="22920961" h="609600">
                  <a:moveTo>
                    <a:pt x="0" y="0"/>
                  </a:moveTo>
                  <a:lnTo>
                    <a:pt x="22920961" y="0"/>
                  </a:lnTo>
                  <a:lnTo>
                    <a:pt x="22920961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2127" b="-68212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239000" y="9736969"/>
            <a:ext cx="17190720" cy="485775"/>
            <a:chOff x="0" y="0"/>
            <a:chExt cx="22920960" cy="647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920961" cy="647700"/>
            </a:xfrm>
            <a:custGeom>
              <a:avLst/>
              <a:gdLst/>
              <a:ahLst/>
              <a:cxnLst/>
              <a:rect l="l" t="t" r="r" b="b"/>
              <a:pathLst>
                <a:path w="22920961" h="647700">
                  <a:moveTo>
                    <a:pt x="0" y="0"/>
                  </a:moveTo>
                  <a:lnTo>
                    <a:pt x="22920961" y="0"/>
                  </a:lnTo>
                  <a:lnTo>
                    <a:pt x="22920961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9541" b="-639541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2920960" cy="6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i="1">
                  <a:solidFill>
                    <a:srgbClr val="5A7A8C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Fig 3 – Mapping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86787" y="1554480"/>
            <a:ext cx="11652600" cy="7946274"/>
            <a:chOff x="0" y="0"/>
            <a:chExt cx="15536799" cy="102717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36799" cy="10271760"/>
            </a:xfrm>
            <a:custGeom>
              <a:avLst/>
              <a:gdLst/>
              <a:ahLst/>
              <a:cxnLst/>
              <a:rect l="l" t="t" r="r" b="b"/>
              <a:pathLst>
                <a:path w="15536799" h="10271760">
                  <a:moveTo>
                    <a:pt x="0" y="0"/>
                  </a:moveTo>
                  <a:lnTo>
                    <a:pt x="15536799" y="0"/>
                  </a:lnTo>
                  <a:lnTo>
                    <a:pt x="15536799" y="10271760"/>
                  </a:lnTo>
                  <a:lnTo>
                    <a:pt x="0" y="1027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74" r="-237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63040"/>
            <a:chOff x="0" y="0"/>
            <a:chExt cx="24384000" cy="1950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50720"/>
            </a:xfrm>
            <a:custGeom>
              <a:avLst/>
              <a:gdLst/>
              <a:ahLst/>
              <a:cxnLst/>
              <a:rect l="l" t="t" r="r" b="b"/>
              <a:pathLst>
                <a:path w="24384000" h="195072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329184" cy="1463040"/>
            <a:chOff x="0" y="0"/>
            <a:chExt cx="438912" cy="1950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" cy="1950720"/>
            </a:xfrm>
            <a:custGeom>
              <a:avLst/>
              <a:gdLst/>
              <a:ahLst/>
              <a:cxnLst/>
              <a:rect l="l" t="t" r="r" b="b"/>
              <a:pathLst>
                <a:path w="438912" h="1950720">
                  <a:moveTo>
                    <a:pt x="0" y="0"/>
                  </a:moveTo>
                  <a:lnTo>
                    <a:pt x="438912" y="0"/>
                  </a:lnTo>
                  <a:lnTo>
                    <a:pt x="438912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85216" y="0"/>
            <a:ext cx="17373600" cy="1463040"/>
            <a:chOff x="0" y="0"/>
            <a:chExt cx="23164800" cy="19507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64800" cy="1950720"/>
            </a:xfrm>
            <a:custGeom>
              <a:avLst/>
              <a:gdLst/>
              <a:ahLst/>
              <a:cxnLst/>
              <a:rect l="l" t="t" r="r" b="b"/>
              <a:pathLst>
                <a:path w="23164800" h="1950720">
                  <a:moveTo>
                    <a:pt x="0" y="0"/>
                  </a:moveTo>
                  <a:lnTo>
                    <a:pt x="23164800" y="0"/>
                  </a:lnTo>
                  <a:lnTo>
                    <a:pt x="23164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1223" b="-18122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5216" y="-71438"/>
            <a:ext cx="17373600" cy="1534477"/>
            <a:chOff x="0" y="0"/>
            <a:chExt cx="23164800" cy="20459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164800" cy="2045970"/>
            </a:xfrm>
            <a:custGeom>
              <a:avLst/>
              <a:gdLst/>
              <a:ahLst/>
              <a:cxnLst/>
              <a:rect l="l" t="t" r="r" b="b"/>
              <a:pathLst>
                <a:path w="23164800" h="2045970">
                  <a:moveTo>
                    <a:pt x="0" y="0"/>
                  </a:moveTo>
                  <a:lnTo>
                    <a:pt x="23164800" y="0"/>
                  </a:lnTo>
                  <a:lnTo>
                    <a:pt x="23164800" y="2045970"/>
                  </a:lnTo>
                  <a:lnTo>
                    <a:pt x="0" y="2045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612" b="-17061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164800" cy="2084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20"/>
                </a:lnSpc>
              </a:pPr>
              <a:r>
                <a:rPr lang="en-US" sz="4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DDL – Data Definition Language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585216" y="1894837"/>
            <a:ext cx="17289208" cy="2037016"/>
          </a:xfrm>
          <a:custGeom>
            <a:avLst/>
            <a:gdLst/>
            <a:ahLst/>
            <a:cxnLst/>
            <a:rect l="l" t="t" r="r" b="b"/>
            <a:pathLst>
              <a:path w="17289208" h="2037016">
                <a:moveTo>
                  <a:pt x="0" y="0"/>
                </a:moveTo>
                <a:lnTo>
                  <a:pt x="17289208" y="0"/>
                </a:lnTo>
                <a:lnTo>
                  <a:pt x="17289208" y="2037016"/>
                </a:lnTo>
                <a:lnTo>
                  <a:pt x="0" y="2037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2" name="Group 12"/>
          <p:cNvGrpSpPr/>
          <p:nvPr/>
        </p:nvGrpSpPr>
        <p:grpSpPr>
          <a:xfrm>
            <a:off x="822960" y="2017262"/>
            <a:ext cx="16642080" cy="1792224"/>
            <a:chOff x="0" y="0"/>
            <a:chExt cx="22189440" cy="23896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89439" cy="2389632"/>
            </a:xfrm>
            <a:custGeom>
              <a:avLst/>
              <a:gdLst/>
              <a:ahLst/>
              <a:cxnLst/>
              <a:rect l="l" t="t" r="r" b="b"/>
              <a:pathLst>
                <a:path w="22189439" h="2389632">
                  <a:moveTo>
                    <a:pt x="0" y="0"/>
                  </a:moveTo>
                  <a:lnTo>
                    <a:pt x="22189439" y="0"/>
                  </a:lnTo>
                  <a:lnTo>
                    <a:pt x="22189439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806" b="-130806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2960" y="1988687"/>
            <a:ext cx="16642080" cy="1820799"/>
            <a:chOff x="0" y="0"/>
            <a:chExt cx="22189440" cy="24277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189439" cy="2427732"/>
            </a:xfrm>
            <a:custGeom>
              <a:avLst/>
              <a:gdLst/>
              <a:ahLst/>
              <a:cxnLst/>
              <a:rect l="l" t="t" r="r" b="b"/>
              <a:pathLst>
                <a:path w="22189439" h="2427732">
                  <a:moveTo>
                    <a:pt x="0" y="0"/>
                  </a:moveTo>
                  <a:lnTo>
                    <a:pt x="22189439" y="0"/>
                  </a:lnTo>
                  <a:lnTo>
                    <a:pt x="22189439" y="2427732"/>
                  </a:lnTo>
                  <a:lnTo>
                    <a:pt x="0" y="2427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093" b="-12809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2189440" cy="24372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DDL </a:t>
              </a: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(Data Definition Language) is the set of SQL commands used to </a:t>
              </a:r>
              <a:r>
                <a:rPr lang="en-US" sz="24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define and build the structure</a:t>
              </a: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the database — the tables, columns, data types, and relationships. It does not touch the data itself.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12648" y="7168896"/>
            <a:ext cx="4625615" cy="832009"/>
            <a:chOff x="0" y="0"/>
            <a:chExt cx="42296183" cy="7607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296184" cy="7607808"/>
            </a:xfrm>
            <a:custGeom>
              <a:avLst/>
              <a:gdLst/>
              <a:ahLst/>
              <a:cxnLst/>
              <a:rect l="l" t="t" r="r" b="b"/>
              <a:pathLst>
                <a:path w="42296184" h="7607808">
                  <a:moveTo>
                    <a:pt x="0" y="0"/>
                  </a:moveTo>
                  <a:lnTo>
                    <a:pt x="42296184" y="0"/>
                  </a:lnTo>
                  <a:lnTo>
                    <a:pt x="42296184" y="7607808"/>
                  </a:lnTo>
                  <a:lnTo>
                    <a:pt x="0" y="7607808"/>
                  </a:lnTo>
                  <a:close/>
                </a:path>
              </a:pathLst>
            </a:custGeom>
            <a:blipFill>
              <a:blip r:embed="rId5"/>
              <a:stretch>
                <a:fillRect t="-6947" b="-6947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2064" y="4315968"/>
            <a:ext cx="5522976" cy="731520"/>
            <a:chOff x="0" y="0"/>
            <a:chExt cx="7363968" cy="9753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363968" cy="975360"/>
            </a:xfrm>
            <a:custGeom>
              <a:avLst/>
              <a:gdLst/>
              <a:ahLst/>
              <a:cxnLst/>
              <a:rect l="l" t="t" r="r" b="b"/>
              <a:pathLst>
                <a:path w="7363968" h="975360">
                  <a:moveTo>
                    <a:pt x="0" y="0"/>
                  </a:moveTo>
                  <a:lnTo>
                    <a:pt x="7363968" y="0"/>
                  </a:lnTo>
                  <a:lnTo>
                    <a:pt x="7363968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5C8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8368" y="4315968"/>
            <a:ext cx="5266944" cy="731520"/>
            <a:chOff x="0" y="0"/>
            <a:chExt cx="7022592" cy="975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22592" cy="975360"/>
            </a:xfrm>
            <a:custGeom>
              <a:avLst/>
              <a:gdLst/>
              <a:ahLst/>
              <a:cxnLst/>
              <a:rect l="l" t="t" r="r" b="b"/>
              <a:pathLst>
                <a:path w="7022592" h="975360">
                  <a:moveTo>
                    <a:pt x="0" y="0"/>
                  </a:moveTo>
                  <a:lnTo>
                    <a:pt x="7022592" y="0"/>
                  </a:lnTo>
                  <a:lnTo>
                    <a:pt x="70225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195" b="-9019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21021" y="4315968"/>
            <a:ext cx="5266944" cy="760095"/>
            <a:chOff x="0" y="0"/>
            <a:chExt cx="7022592" cy="10134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022592" cy="1013460"/>
            </a:xfrm>
            <a:custGeom>
              <a:avLst/>
              <a:gdLst/>
              <a:ahLst/>
              <a:cxnLst/>
              <a:rect l="l" t="t" r="r" b="b"/>
              <a:pathLst>
                <a:path w="7022592" h="1013460">
                  <a:moveTo>
                    <a:pt x="0" y="0"/>
                  </a:moveTo>
                  <a:lnTo>
                    <a:pt x="7022592" y="0"/>
                  </a:lnTo>
                  <a:lnTo>
                    <a:pt x="7022592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018" b="-85018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7022592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CREATE DataBase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94944" y="5157216"/>
            <a:ext cx="5193792" cy="1737360"/>
            <a:chOff x="0" y="0"/>
            <a:chExt cx="6925056" cy="23164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25056" cy="2316480"/>
            </a:xfrm>
            <a:custGeom>
              <a:avLst/>
              <a:gdLst/>
              <a:ahLst/>
              <a:cxnLst/>
              <a:rect l="l" t="t" r="r" b="b"/>
              <a:pathLst>
                <a:path w="6925056" h="2316480">
                  <a:moveTo>
                    <a:pt x="0" y="0"/>
                  </a:moveTo>
                  <a:lnTo>
                    <a:pt x="6925056" y="0"/>
                  </a:lnTo>
                  <a:lnTo>
                    <a:pt x="6925056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09" b="-820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1208" y="6998722"/>
            <a:ext cx="91440" cy="2889504"/>
            <a:chOff x="0" y="0"/>
            <a:chExt cx="121920" cy="38526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" cy="3852672"/>
            </a:xfrm>
            <a:custGeom>
              <a:avLst/>
              <a:gdLst/>
              <a:ahLst/>
              <a:cxnLst/>
              <a:rect l="l" t="t" r="r" b="b"/>
              <a:pathLst>
                <a:path w="121920" h="3852672">
                  <a:moveTo>
                    <a:pt x="0" y="0"/>
                  </a:moveTo>
                  <a:lnTo>
                    <a:pt x="121920" y="0"/>
                  </a:lnTo>
                  <a:lnTo>
                    <a:pt x="12192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01968" y="7254105"/>
            <a:ext cx="4841854" cy="2353326"/>
            <a:chOff x="0" y="0"/>
            <a:chExt cx="15652695" cy="76078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652696" cy="7607808"/>
            </a:xfrm>
            <a:custGeom>
              <a:avLst/>
              <a:gdLst/>
              <a:ahLst/>
              <a:cxnLst/>
              <a:rect l="l" t="t" r="r" b="b"/>
              <a:pathLst>
                <a:path w="15652696" h="7607808">
                  <a:moveTo>
                    <a:pt x="0" y="0"/>
                  </a:moveTo>
                  <a:lnTo>
                    <a:pt x="15652696" y="0"/>
                  </a:lnTo>
                  <a:lnTo>
                    <a:pt x="15652696" y="7607808"/>
                  </a:lnTo>
                  <a:lnTo>
                    <a:pt x="0" y="7607808"/>
                  </a:lnTo>
                  <a:close/>
                </a:path>
              </a:pathLst>
            </a:custGeom>
            <a:blipFill>
              <a:blip r:embed="rId6"/>
              <a:stretch>
                <a:fillRect l="-5281" r="-528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27648" y="4315968"/>
            <a:ext cx="5522976" cy="731520"/>
            <a:chOff x="0" y="0"/>
            <a:chExt cx="7363968" cy="9753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363968" cy="975360"/>
            </a:xfrm>
            <a:custGeom>
              <a:avLst/>
              <a:gdLst/>
              <a:ahLst/>
              <a:cxnLst/>
              <a:rect l="l" t="t" r="r" b="b"/>
              <a:pathLst>
                <a:path w="7363968" h="975360">
                  <a:moveTo>
                    <a:pt x="0" y="0"/>
                  </a:moveTo>
                  <a:lnTo>
                    <a:pt x="7363968" y="0"/>
                  </a:lnTo>
                  <a:lnTo>
                    <a:pt x="7363968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7A5F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10528" y="6986016"/>
            <a:ext cx="91440" cy="2889504"/>
            <a:chOff x="0" y="0"/>
            <a:chExt cx="121920" cy="38526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" cy="3852672"/>
            </a:xfrm>
            <a:custGeom>
              <a:avLst/>
              <a:gdLst/>
              <a:ahLst/>
              <a:cxnLst/>
              <a:rect l="l" t="t" r="r" b="b"/>
              <a:pathLst>
                <a:path w="121920" h="3852672">
                  <a:moveTo>
                    <a:pt x="0" y="0"/>
                  </a:moveTo>
                  <a:lnTo>
                    <a:pt x="121920" y="0"/>
                  </a:lnTo>
                  <a:lnTo>
                    <a:pt x="12192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43232" y="4315968"/>
            <a:ext cx="5522976" cy="5705856"/>
            <a:chOff x="0" y="0"/>
            <a:chExt cx="7363968" cy="760780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63968" cy="7607808"/>
            </a:xfrm>
            <a:custGeom>
              <a:avLst/>
              <a:gdLst/>
              <a:ahLst/>
              <a:cxnLst/>
              <a:rect l="l" t="t" r="r" b="b"/>
              <a:pathLst>
                <a:path w="7363968" h="7607808">
                  <a:moveTo>
                    <a:pt x="0" y="0"/>
                  </a:moveTo>
                  <a:lnTo>
                    <a:pt x="7363968" y="0"/>
                  </a:lnTo>
                  <a:lnTo>
                    <a:pt x="7363968" y="7607808"/>
                  </a:lnTo>
                  <a:lnTo>
                    <a:pt x="0" y="7607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161520" y="4362841"/>
            <a:ext cx="5522976" cy="731520"/>
            <a:chOff x="0" y="0"/>
            <a:chExt cx="7363968" cy="9753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63968" cy="975360"/>
            </a:xfrm>
            <a:custGeom>
              <a:avLst/>
              <a:gdLst/>
              <a:ahLst/>
              <a:cxnLst/>
              <a:rect l="l" t="t" r="r" b="b"/>
              <a:pathLst>
                <a:path w="7363968" h="975360">
                  <a:moveTo>
                    <a:pt x="0" y="0"/>
                  </a:moveTo>
                  <a:lnTo>
                    <a:pt x="7363968" y="0"/>
                  </a:lnTo>
                  <a:lnTo>
                    <a:pt x="7363968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6A1B9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868400" y="4504430"/>
            <a:ext cx="5193792" cy="1737360"/>
            <a:chOff x="0" y="0"/>
            <a:chExt cx="6925056" cy="23164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925056" cy="2316480"/>
            </a:xfrm>
            <a:custGeom>
              <a:avLst/>
              <a:gdLst/>
              <a:ahLst/>
              <a:cxnLst/>
              <a:rect l="l" t="t" r="r" b="b"/>
              <a:pathLst>
                <a:path w="6925056" h="2316480">
                  <a:moveTo>
                    <a:pt x="0" y="0"/>
                  </a:moveTo>
                  <a:lnTo>
                    <a:pt x="6925056" y="0"/>
                  </a:lnTo>
                  <a:lnTo>
                    <a:pt x="6925056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09" b="-8209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6925056" cy="232600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ALTER TABLE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326112" y="6986016"/>
            <a:ext cx="91440" cy="2889504"/>
            <a:chOff x="0" y="0"/>
            <a:chExt cx="121920" cy="385267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1920" cy="3852672"/>
            </a:xfrm>
            <a:custGeom>
              <a:avLst/>
              <a:gdLst/>
              <a:ahLst/>
              <a:cxnLst/>
              <a:rect l="l" t="t" r="r" b="b"/>
              <a:pathLst>
                <a:path w="121920" h="3852672">
                  <a:moveTo>
                    <a:pt x="0" y="0"/>
                  </a:moveTo>
                  <a:lnTo>
                    <a:pt x="121920" y="0"/>
                  </a:lnTo>
                  <a:lnTo>
                    <a:pt x="12192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417552" y="7517335"/>
            <a:ext cx="5154168" cy="1852279"/>
            <a:chOff x="0" y="0"/>
            <a:chExt cx="6872224" cy="24697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872224" cy="2469642"/>
            </a:xfrm>
            <a:custGeom>
              <a:avLst/>
              <a:gdLst/>
              <a:ahLst/>
              <a:cxnLst/>
              <a:rect l="l" t="t" r="r" b="b"/>
              <a:pathLst>
                <a:path w="6872224" h="2469642">
                  <a:moveTo>
                    <a:pt x="0" y="0"/>
                  </a:moveTo>
                  <a:lnTo>
                    <a:pt x="6872224" y="0"/>
                  </a:lnTo>
                  <a:lnTo>
                    <a:pt x="6872224" y="2469642"/>
                  </a:lnTo>
                  <a:lnTo>
                    <a:pt x="0" y="2469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2603480" y="5372500"/>
            <a:ext cx="4898136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4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or modifies a table after it was created. We used it to add Foreign Keys that couldn't be added earlier due to circular dependencies.</a:t>
            </a:r>
          </a:p>
          <a:p>
            <a:pPr algn="l">
              <a:lnSpc>
                <a:spcPts val="2639"/>
              </a:lnSpc>
            </a:pPr>
            <a:endParaRPr lang="en-US" sz="2400">
              <a:solidFill>
                <a:srgbClr val="1A1A2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327648" y="4514300"/>
            <a:ext cx="5266944" cy="409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8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CREATE TABLE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78652" y="5409438"/>
            <a:ext cx="435961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new database and defines its name, character set, collation, and ownership settings.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145930" y="5409438"/>
            <a:ext cx="4448662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38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a new table and defines its columns, data types, and constraints (PK, FK, NOT NULL).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63040"/>
            <a:chOff x="0" y="0"/>
            <a:chExt cx="24384000" cy="1950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50720"/>
            </a:xfrm>
            <a:custGeom>
              <a:avLst/>
              <a:gdLst/>
              <a:ahLst/>
              <a:cxnLst/>
              <a:rect l="l" t="t" r="r" b="b"/>
              <a:pathLst>
                <a:path w="24384000" h="195072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329184" cy="1463040"/>
            <a:chOff x="0" y="0"/>
            <a:chExt cx="438912" cy="1950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" cy="1950720"/>
            </a:xfrm>
            <a:custGeom>
              <a:avLst/>
              <a:gdLst/>
              <a:ahLst/>
              <a:cxnLst/>
              <a:rect l="l" t="t" r="r" b="b"/>
              <a:pathLst>
                <a:path w="438912" h="1950720">
                  <a:moveTo>
                    <a:pt x="0" y="0"/>
                  </a:moveTo>
                  <a:lnTo>
                    <a:pt x="438912" y="0"/>
                  </a:lnTo>
                  <a:lnTo>
                    <a:pt x="438912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85216" y="0"/>
            <a:ext cx="17373600" cy="1463040"/>
            <a:chOff x="0" y="0"/>
            <a:chExt cx="23164800" cy="19507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64800" cy="1950720"/>
            </a:xfrm>
            <a:custGeom>
              <a:avLst/>
              <a:gdLst/>
              <a:ahLst/>
              <a:cxnLst/>
              <a:rect l="l" t="t" r="r" b="b"/>
              <a:pathLst>
                <a:path w="23164800" h="1950720">
                  <a:moveTo>
                    <a:pt x="0" y="0"/>
                  </a:moveTo>
                  <a:lnTo>
                    <a:pt x="23164800" y="0"/>
                  </a:lnTo>
                  <a:lnTo>
                    <a:pt x="23164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1223" b="-18122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5216" y="-71438"/>
            <a:ext cx="17373600" cy="1534477"/>
            <a:chOff x="0" y="0"/>
            <a:chExt cx="23164800" cy="20459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164800" cy="2045970"/>
            </a:xfrm>
            <a:custGeom>
              <a:avLst/>
              <a:gdLst/>
              <a:ahLst/>
              <a:cxnLst/>
              <a:rect l="l" t="t" r="r" b="b"/>
              <a:pathLst>
                <a:path w="23164800" h="2045970">
                  <a:moveTo>
                    <a:pt x="0" y="0"/>
                  </a:moveTo>
                  <a:lnTo>
                    <a:pt x="23164800" y="0"/>
                  </a:lnTo>
                  <a:lnTo>
                    <a:pt x="23164800" y="2045970"/>
                  </a:lnTo>
                  <a:lnTo>
                    <a:pt x="0" y="2045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612" b="-17061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164800" cy="2084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20"/>
                </a:lnSpc>
              </a:pPr>
              <a:r>
                <a:rPr lang="en-US" sz="4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DML – Data Manipulation Language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5216" y="1463040"/>
            <a:ext cx="17373600" cy="512064"/>
            <a:chOff x="0" y="0"/>
            <a:chExt cx="23164800" cy="682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164800" cy="682752"/>
            </a:xfrm>
            <a:custGeom>
              <a:avLst/>
              <a:gdLst/>
              <a:ahLst/>
              <a:cxnLst/>
              <a:rect l="l" t="t" r="r" b="b"/>
              <a:pathLst>
                <a:path w="23164800" h="682752">
                  <a:moveTo>
                    <a:pt x="0" y="0"/>
                  </a:moveTo>
                  <a:lnTo>
                    <a:pt x="23164800" y="0"/>
                  </a:lnTo>
                  <a:lnTo>
                    <a:pt x="23164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0639" b="-61063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85216" y="1434465"/>
            <a:ext cx="17373600" cy="540639"/>
            <a:chOff x="0" y="0"/>
            <a:chExt cx="23164800" cy="7208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164800" cy="720852"/>
            </a:xfrm>
            <a:custGeom>
              <a:avLst/>
              <a:gdLst/>
              <a:ahLst/>
              <a:cxnLst/>
              <a:rect l="l" t="t" r="r" b="b"/>
              <a:pathLst>
                <a:path w="23164800" h="720852">
                  <a:moveTo>
                    <a:pt x="0" y="0"/>
                  </a:moveTo>
                  <a:lnTo>
                    <a:pt x="23164800" y="0"/>
                  </a:lnTo>
                  <a:lnTo>
                    <a:pt x="231648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157" b="-57615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3164800" cy="7399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i="1">
                  <a:solidFill>
                    <a:srgbClr val="5A7A8C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What it is, what commands we used, and why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499367" y="2035559"/>
            <a:ext cx="17289208" cy="2037017"/>
          </a:xfrm>
          <a:custGeom>
            <a:avLst/>
            <a:gdLst/>
            <a:ahLst/>
            <a:cxnLst/>
            <a:rect l="l" t="t" r="r" b="b"/>
            <a:pathLst>
              <a:path w="17289208" h="2037017">
                <a:moveTo>
                  <a:pt x="0" y="0"/>
                </a:moveTo>
                <a:lnTo>
                  <a:pt x="17289209" y="0"/>
                </a:lnTo>
                <a:lnTo>
                  <a:pt x="17289209" y="2037017"/>
                </a:lnTo>
                <a:lnTo>
                  <a:pt x="0" y="2037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7" name="Group 17"/>
          <p:cNvGrpSpPr/>
          <p:nvPr/>
        </p:nvGrpSpPr>
        <p:grpSpPr>
          <a:xfrm>
            <a:off x="822960" y="2139696"/>
            <a:ext cx="16642080" cy="1792224"/>
            <a:chOff x="0" y="0"/>
            <a:chExt cx="22189440" cy="23896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189439" cy="2389632"/>
            </a:xfrm>
            <a:custGeom>
              <a:avLst/>
              <a:gdLst/>
              <a:ahLst/>
              <a:cxnLst/>
              <a:rect l="l" t="t" r="r" b="b"/>
              <a:pathLst>
                <a:path w="22189439" h="2389632">
                  <a:moveTo>
                    <a:pt x="0" y="0"/>
                  </a:moveTo>
                  <a:lnTo>
                    <a:pt x="22189439" y="0"/>
                  </a:lnTo>
                  <a:lnTo>
                    <a:pt x="22189439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806" b="-130806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2111121"/>
            <a:ext cx="16642080" cy="1820799"/>
            <a:chOff x="0" y="0"/>
            <a:chExt cx="22189440" cy="24277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189439" cy="2427732"/>
            </a:xfrm>
            <a:custGeom>
              <a:avLst/>
              <a:gdLst/>
              <a:ahLst/>
              <a:cxnLst/>
              <a:rect l="l" t="t" r="r" b="b"/>
              <a:pathLst>
                <a:path w="22189439" h="2427732">
                  <a:moveTo>
                    <a:pt x="0" y="0"/>
                  </a:moveTo>
                  <a:lnTo>
                    <a:pt x="22189439" y="0"/>
                  </a:lnTo>
                  <a:lnTo>
                    <a:pt x="22189439" y="2427732"/>
                  </a:lnTo>
                  <a:lnTo>
                    <a:pt x="0" y="2427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093" b="-12809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22189440" cy="24372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DML </a:t>
              </a: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(Data Manipulation Language) is the set of SQL commands used to </a:t>
              </a:r>
              <a:r>
                <a:rPr lang="en-US" sz="24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work with the data inside the tables</a:t>
              </a: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— inserting, updating, deleting, or reading records. This is what fills the database with real information.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2064" y="4315968"/>
            <a:ext cx="5522976" cy="5705856"/>
            <a:chOff x="0" y="0"/>
            <a:chExt cx="7363968" cy="76078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63968" cy="7607808"/>
            </a:xfrm>
            <a:custGeom>
              <a:avLst/>
              <a:gdLst/>
              <a:ahLst/>
              <a:cxnLst/>
              <a:rect l="l" t="t" r="r" b="b"/>
              <a:pathLst>
                <a:path w="7363968" h="7607808">
                  <a:moveTo>
                    <a:pt x="0" y="0"/>
                  </a:moveTo>
                  <a:lnTo>
                    <a:pt x="7363968" y="0"/>
                  </a:lnTo>
                  <a:lnTo>
                    <a:pt x="7363968" y="7607808"/>
                  </a:lnTo>
                  <a:lnTo>
                    <a:pt x="0" y="7607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12064" y="4441208"/>
            <a:ext cx="17446752" cy="751935"/>
            <a:chOff x="0" y="0"/>
            <a:chExt cx="19249513" cy="8296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249513" cy="829632"/>
            </a:xfrm>
            <a:custGeom>
              <a:avLst/>
              <a:gdLst/>
              <a:ahLst/>
              <a:cxnLst/>
              <a:rect l="l" t="t" r="r" b="b"/>
              <a:pathLst>
                <a:path w="19249513" h="829632">
                  <a:moveTo>
                    <a:pt x="0" y="0"/>
                  </a:moveTo>
                  <a:lnTo>
                    <a:pt x="19249513" y="0"/>
                  </a:lnTo>
                  <a:lnTo>
                    <a:pt x="19249513" y="829632"/>
                  </a:lnTo>
                  <a:lnTo>
                    <a:pt x="0" y="829632"/>
                  </a:lnTo>
                  <a:close/>
                </a:path>
              </a:pathLst>
            </a:custGeom>
            <a:solidFill>
              <a:srgbClr val="0D5C8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73952" y="3938206"/>
            <a:ext cx="5439766" cy="755523"/>
            <a:chOff x="0" y="0"/>
            <a:chExt cx="7022592" cy="9753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22592" cy="975360"/>
            </a:xfrm>
            <a:custGeom>
              <a:avLst/>
              <a:gdLst/>
              <a:ahLst/>
              <a:cxnLst/>
              <a:rect l="l" t="t" r="r" b="b"/>
              <a:pathLst>
                <a:path w="7022592" h="975360">
                  <a:moveTo>
                    <a:pt x="0" y="0"/>
                  </a:moveTo>
                  <a:lnTo>
                    <a:pt x="7022592" y="0"/>
                  </a:lnTo>
                  <a:lnTo>
                    <a:pt x="70225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365775" y="4490199"/>
            <a:ext cx="3830300" cy="760095"/>
            <a:chOff x="0" y="0"/>
            <a:chExt cx="5107067" cy="10134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107068" cy="1013460"/>
            </a:xfrm>
            <a:custGeom>
              <a:avLst/>
              <a:gdLst/>
              <a:ahLst/>
              <a:cxnLst/>
              <a:rect l="l" t="t" r="r" b="b"/>
              <a:pathLst>
                <a:path w="5107068" h="1013460">
                  <a:moveTo>
                    <a:pt x="0" y="0"/>
                  </a:moveTo>
                  <a:lnTo>
                    <a:pt x="5107068" y="0"/>
                  </a:lnTo>
                  <a:lnTo>
                    <a:pt x="5107068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018" r="-37507" b="-85018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107067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8"/>
                </a:lnSpc>
              </a:pPr>
              <a:r>
                <a:rPr lang="en-US" sz="29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INSERT INTO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94944" y="5157216"/>
            <a:ext cx="5193792" cy="1737360"/>
            <a:chOff x="0" y="0"/>
            <a:chExt cx="6925056" cy="23164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925056" cy="2316480"/>
            </a:xfrm>
            <a:custGeom>
              <a:avLst/>
              <a:gdLst/>
              <a:ahLst/>
              <a:cxnLst/>
              <a:rect l="l" t="t" r="r" b="b"/>
              <a:pathLst>
                <a:path w="6925056" h="2316480">
                  <a:moveTo>
                    <a:pt x="0" y="0"/>
                  </a:moveTo>
                  <a:lnTo>
                    <a:pt x="6925056" y="0"/>
                  </a:lnTo>
                  <a:lnTo>
                    <a:pt x="6925056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09" b="-820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048056" y="4939760"/>
            <a:ext cx="14740520" cy="1765935"/>
            <a:chOff x="0" y="0"/>
            <a:chExt cx="19654027" cy="23545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654027" cy="2354580"/>
            </a:xfrm>
            <a:custGeom>
              <a:avLst/>
              <a:gdLst/>
              <a:ahLst/>
              <a:cxnLst/>
              <a:rect l="l" t="t" r="r" b="b"/>
              <a:pathLst>
                <a:path w="19654027" h="2354580">
                  <a:moveTo>
                    <a:pt x="0" y="0"/>
                  </a:moveTo>
                  <a:lnTo>
                    <a:pt x="19654027" y="0"/>
                  </a:lnTo>
                  <a:lnTo>
                    <a:pt x="19654027" y="2354580"/>
                  </a:lnTo>
                  <a:lnTo>
                    <a:pt x="0" y="2354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07" r="64765" b="-730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19654027" cy="2373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8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Adds new rows of data into a table. We used this to populate all 10 tables with sample data.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94944" y="6986016"/>
            <a:ext cx="91440" cy="2889504"/>
            <a:chOff x="0" y="0"/>
            <a:chExt cx="121920" cy="38526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1920" cy="3852672"/>
            </a:xfrm>
            <a:custGeom>
              <a:avLst/>
              <a:gdLst/>
              <a:ahLst/>
              <a:cxnLst/>
              <a:rect l="l" t="t" r="r" b="b"/>
              <a:pathLst>
                <a:path w="121920" h="3852672">
                  <a:moveTo>
                    <a:pt x="0" y="0"/>
                  </a:moveTo>
                  <a:lnTo>
                    <a:pt x="121920" y="0"/>
                  </a:lnTo>
                  <a:lnTo>
                    <a:pt x="12192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679066" y="3701529"/>
            <a:ext cx="5266944" cy="731520"/>
            <a:chOff x="0" y="0"/>
            <a:chExt cx="7022592" cy="9753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022592" cy="975360"/>
            </a:xfrm>
            <a:custGeom>
              <a:avLst/>
              <a:gdLst/>
              <a:ahLst/>
              <a:cxnLst/>
              <a:rect l="l" t="t" r="r" b="b"/>
              <a:pathLst>
                <a:path w="7022592" h="975360">
                  <a:moveTo>
                    <a:pt x="0" y="0"/>
                  </a:moveTo>
                  <a:lnTo>
                    <a:pt x="7022592" y="0"/>
                  </a:lnTo>
                  <a:lnTo>
                    <a:pt x="70225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6490" y="6672491"/>
            <a:ext cx="5238550" cy="3245958"/>
            <a:chOff x="0" y="0"/>
            <a:chExt cx="6355994" cy="393835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355969" cy="3938397"/>
            </a:xfrm>
            <a:custGeom>
              <a:avLst/>
              <a:gdLst/>
              <a:ahLst/>
              <a:cxnLst/>
              <a:rect l="l" t="t" r="r" b="b"/>
              <a:pathLst>
                <a:path w="6355969" h="3938397">
                  <a:moveTo>
                    <a:pt x="0" y="0"/>
                  </a:moveTo>
                  <a:lnTo>
                    <a:pt x="6355969" y="0"/>
                  </a:lnTo>
                  <a:lnTo>
                    <a:pt x="6355969" y="3938397"/>
                  </a:lnTo>
                  <a:lnTo>
                    <a:pt x="0" y="3938397"/>
                  </a:lnTo>
                  <a:close/>
                </a:path>
              </a:pathLst>
            </a:custGeom>
            <a:blipFill>
              <a:blip r:embed="rId5"/>
              <a:stretch>
                <a:fillRect t="-1288" b="-1287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2" name="Freeform 42"/>
          <p:cNvSpPr/>
          <p:nvPr/>
        </p:nvSpPr>
        <p:spPr>
          <a:xfrm>
            <a:off x="7365775" y="6818795"/>
            <a:ext cx="9893525" cy="3203029"/>
          </a:xfrm>
          <a:custGeom>
            <a:avLst/>
            <a:gdLst/>
            <a:ahLst/>
            <a:cxnLst/>
            <a:rect l="l" t="t" r="r" b="b"/>
            <a:pathLst>
              <a:path w="9893525" h="3203029">
                <a:moveTo>
                  <a:pt x="0" y="0"/>
                </a:moveTo>
                <a:lnTo>
                  <a:pt x="9893525" y="0"/>
                </a:lnTo>
                <a:lnTo>
                  <a:pt x="9893525" y="3203029"/>
                </a:lnTo>
                <a:lnTo>
                  <a:pt x="0" y="32030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63040"/>
            <a:chOff x="0" y="0"/>
            <a:chExt cx="24384000" cy="1950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50720"/>
            </a:xfrm>
            <a:custGeom>
              <a:avLst/>
              <a:gdLst/>
              <a:ahLst/>
              <a:cxnLst/>
              <a:rect l="l" t="t" r="r" b="b"/>
              <a:pathLst>
                <a:path w="24384000" h="195072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329184" cy="1463040"/>
            <a:chOff x="0" y="0"/>
            <a:chExt cx="438912" cy="1950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" cy="1950720"/>
            </a:xfrm>
            <a:custGeom>
              <a:avLst/>
              <a:gdLst/>
              <a:ahLst/>
              <a:cxnLst/>
              <a:rect l="l" t="t" r="r" b="b"/>
              <a:pathLst>
                <a:path w="438912" h="1950720">
                  <a:moveTo>
                    <a:pt x="0" y="0"/>
                  </a:moveTo>
                  <a:lnTo>
                    <a:pt x="438912" y="0"/>
                  </a:lnTo>
                  <a:lnTo>
                    <a:pt x="438912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85216" y="0"/>
            <a:ext cx="17373600" cy="1463040"/>
            <a:chOff x="0" y="0"/>
            <a:chExt cx="23164800" cy="19507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64800" cy="1950720"/>
            </a:xfrm>
            <a:custGeom>
              <a:avLst/>
              <a:gdLst/>
              <a:ahLst/>
              <a:cxnLst/>
              <a:rect l="l" t="t" r="r" b="b"/>
              <a:pathLst>
                <a:path w="23164800" h="1950720">
                  <a:moveTo>
                    <a:pt x="0" y="0"/>
                  </a:moveTo>
                  <a:lnTo>
                    <a:pt x="23164800" y="0"/>
                  </a:lnTo>
                  <a:lnTo>
                    <a:pt x="23164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1223" b="-18122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5216" y="-71438"/>
            <a:ext cx="17373600" cy="1534477"/>
            <a:chOff x="0" y="0"/>
            <a:chExt cx="23164800" cy="20459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164800" cy="2045970"/>
            </a:xfrm>
            <a:custGeom>
              <a:avLst/>
              <a:gdLst/>
              <a:ahLst/>
              <a:cxnLst/>
              <a:rect l="l" t="t" r="r" b="b"/>
              <a:pathLst>
                <a:path w="23164800" h="2045970">
                  <a:moveTo>
                    <a:pt x="0" y="0"/>
                  </a:moveTo>
                  <a:lnTo>
                    <a:pt x="23164800" y="0"/>
                  </a:lnTo>
                  <a:lnTo>
                    <a:pt x="23164800" y="2045970"/>
                  </a:lnTo>
                  <a:lnTo>
                    <a:pt x="0" y="2045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612" b="-17061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164800" cy="2084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20"/>
                </a:lnSpc>
              </a:pPr>
              <a:r>
                <a:rPr lang="en-US" sz="4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DDL vs DML – Summary</a:t>
              </a:r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33400" y="1985696"/>
          <a:ext cx="17208499" cy="7188201"/>
        </p:xfrm>
        <a:graphic>
          <a:graphicData uri="http://schemas.openxmlformats.org/drawingml/2006/table">
            <a:tbl>
              <a:tblPr/>
              <a:tblGrid>
                <a:gridCol w="3116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6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4463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DDL  –  Data Definition Language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DML  –  Data Manipulation Language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4463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Purpose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Defines the structure of the database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Works with the data inside the database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4463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Analogy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Building the rooms in a house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Moving furniture into the rooms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4463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Commands used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 TABLE, ALTER TABLE, CREATE INDEX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INSERT INTO, SELECT, UPDATE (in trigger)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4463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When run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Once, at the start — to set up tables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Every time data needs to be added/read/changed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4463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Our project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Created 10 tables with all PKs, FKs, constraints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Inserted 80+ rows across all tables; 3 SELECT queries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1423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Affects schema?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 — changes the table structure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— only affects the data inside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554480"/>
            <a:chOff x="0" y="0"/>
            <a:chExt cx="24384000" cy="2072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72640"/>
            </a:xfrm>
            <a:custGeom>
              <a:avLst/>
              <a:gdLst/>
              <a:ahLst/>
              <a:cxnLst/>
              <a:rect l="l" t="t" r="r" b="b"/>
              <a:pathLst>
                <a:path w="24384000" h="207264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0"/>
            <a:ext cx="16459200" cy="1554480"/>
            <a:chOff x="0" y="0"/>
            <a:chExt cx="21945600" cy="2072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6168" b="-15616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520" y="-64294"/>
            <a:ext cx="16459200" cy="1618774"/>
            <a:chOff x="0" y="0"/>
            <a:chExt cx="21945600" cy="21583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158365"/>
            </a:xfrm>
            <a:custGeom>
              <a:avLst/>
              <a:gdLst/>
              <a:ahLst/>
              <a:cxnLst/>
              <a:rect l="l" t="t" r="r" b="b"/>
              <a:pathLst>
                <a:path w="21945600" h="2158365">
                  <a:moveTo>
                    <a:pt x="0" y="0"/>
                  </a:moveTo>
                  <a:lnTo>
                    <a:pt x="21945600" y="0"/>
                  </a:lnTo>
                  <a:lnTo>
                    <a:pt x="21945600" y="2158365"/>
                  </a:lnTo>
                  <a:lnTo>
                    <a:pt x="0" y="2158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117" b="-14811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186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Q1  –  Trigger: Decrement Component Stock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8640" y="1737360"/>
            <a:ext cx="17190720" cy="1133856"/>
            <a:chOff x="0" y="0"/>
            <a:chExt cx="22920960" cy="15118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20961" cy="1511808"/>
            </a:xfrm>
            <a:custGeom>
              <a:avLst/>
              <a:gdLst/>
              <a:ahLst/>
              <a:cxnLst/>
              <a:rect l="l" t="t" r="r" b="b"/>
              <a:pathLst>
                <a:path w="22920961" h="1511808">
                  <a:moveTo>
                    <a:pt x="0" y="0"/>
                  </a:moveTo>
                  <a:lnTo>
                    <a:pt x="22920961" y="0"/>
                  </a:lnTo>
                  <a:lnTo>
                    <a:pt x="2292096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8E1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1737360"/>
            <a:ext cx="128016" cy="1133856"/>
            <a:chOff x="0" y="0"/>
            <a:chExt cx="170688" cy="15118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0688" cy="1511808"/>
            </a:xfrm>
            <a:custGeom>
              <a:avLst/>
              <a:gdLst/>
              <a:ahLst/>
              <a:cxnLst/>
              <a:rect l="l" t="t" r="r" b="b"/>
              <a:pathLst>
                <a:path w="170688" h="151180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9A825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48640" y="3646551"/>
            <a:ext cx="3657600" cy="640080"/>
            <a:chOff x="0" y="0"/>
            <a:chExt cx="4876800" cy="853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76800" cy="853440"/>
            </a:xfrm>
            <a:custGeom>
              <a:avLst/>
              <a:gdLst/>
              <a:ahLst/>
              <a:cxnLst/>
              <a:rect l="l" t="t" r="r" b="b"/>
              <a:pathLst>
                <a:path w="4876800" h="85344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266" b="-6126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640" y="3603688"/>
            <a:ext cx="3657600" cy="682942"/>
            <a:chOff x="0" y="0"/>
            <a:chExt cx="4876800" cy="9105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76800" cy="910590"/>
            </a:xfrm>
            <a:custGeom>
              <a:avLst/>
              <a:gdLst/>
              <a:ahLst/>
              <a:cxnLst/>
              <a:rect l="l" t="t" r="r" b="b"/>
              <a:pathLst>
                <a:path w="4876800" h="910590">
                  <a:moveTo>
                    <a:pt x="0" y="0"/>
                  </a:moveTo>
                  <a:lnTo>
                    <a:pt x="4876800" y="0"/>
                  </a:lnTo>
                  <a:lnTo>
                    <a:pt x="487680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355" b="-5435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487680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A8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Answer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8640" y="3966591"/>
            <a:ext cx="8778240" cy="4994529"/>
            <a:chOff x="0" y="0"/>
            <a:chExt cx="11704320" cy="66593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704320" cy="6659372"/>
            </a:xfrm>
            <a:custGeom>
              <a:avLst/>
              <a:gdLst/>
              <a:ahLst/>
              <a:cxnLst/>
              <a:rect l="l" t="t" r="r" b="b"/>
              <a:pathLst>
                <a:path w="11704320" h="6659372">
                  <a:moveTo>
                    <a:pt x="0" y="0"/>
                  </a:moveTo>
                  <a:lnTo>
                    <a:pt x="11704320" y="0"/>
                  </a:lnTo>
                  <a:lnTo>
                    <a:pt x="11704320" y="6659372"/>
                  </a:lnTo>
                  <a:lnTo>
                    <a:pt x="0" y="66593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51" r="-2305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8640" y="3930872"/>
            <a:ext cx="8778240" cy="5030248"/>
            <a:chOff x="0" y="0"/>
            <a:chExt cx="11704320" cy="67069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704320" cy="6706997"/>
            </a:xfrm>
            <a:custGeom>
              <a:avLst/>
              <a:gdLst/>
              <a:ahLst/>
              <a:cxnLst/>
              <a:rect l="l" t="t" r="r" b="b"/>
              <a:pathLst>
                <a:path w="11704320" h="6706997">
                  <a:moveTo>
                    <a:pt x="0" y="0"/>
                  </a:moveTo>
                  <a:lnTo>
                    <a:pt x="11704320" y="0"/>
                  </a:lnTo>
                  <a:lnTo>
                    <a:pt x="11704320" y="6706997"/>
                  </a:lnTo>
                  <a:lnTo>
                    <a:pt x="0" y="67069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522" r="-2352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1704320" cy="67260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23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Timing:</a:t>
              </a:r>
            </a:p>
            <a:p>
              <a:pPr algn="l">
                <a:lnSpc>
                  <a:spcPct val="150000"/>
                </a:lnSpc>
              </a:pPr>
              <a:r>
                <a:rPr lang="en-US" sz="23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AFTER INSERT on TEST_RESULT — fires once per new result row.</a:t>
              </a:r>
            </a:p>
            <a:p>
              <a:pPr algn="l">
                <a:lnSpc>
                  <a:spcPct val="150000"/>
                </a:lnSpc>
              </a:pPr>
              <a:r>
                <a:rPr lang="en-US" sz="23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Action:</a:t>
              </a:r>
            </a:p>
            <a:p>
              <a:pPr algn="l">
                <a:lnSpc>
                  <a:spcPct val="150000"/>
                </a:lnSpc>
              </a:pPr>
              <a:r>
                <a:rPr lang="en-US" sz="23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JOIN ASSOCIATION on </a:t>
              </a:r>
              <a:r>
                <a:rPr lang="en-US" sz="2300" err="1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Test_ID</a:t>
              </a: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then UPDATE </a:t>
              </a:r>
              <a:r>
                <a:rPr lang="en-US" sz="2300" err="1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COMPONENT.Available_quantity</a:t>
              </a: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= </a:t>
              </a:r>
              <a:r>
                <a:rPr lang="en-US" sz="2300" err="1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Available_quantity</a:t>
              </a: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− 1 for every component linked to that test.</a:t>
              </a:r>
            </a:p>
            <a:p>
              <a:pPr algn="l">
                <a:lnSpc>
                  <a:spcPct val="150000"/>
                </a:lnSpc>
              </a:pPr>
              <a:r>
                <a:rPr lang="en-US" sz="23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AFTER?</a:t>
              </a:r>
            </a:p>
            <a:p>
              <a:pPr algn="l">
                <a:lnSpc>
                  <a:spcPct val="150000"/>
                </a:lnSpc>
              </a:pPr>
              <a:r>
                <a:rPr lang="en-US" sz="23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Ensures the row is committed first; referential integrity is already guaranteed.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39548" y="3263579"/>
            <a:ext cx="8778240" cy="6274394"/>
            <a:chOff x="0" y="0"/>
            <a:chExt cx="11704320" cy="836585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704320" cy="8365871"/>
            </a:xfrm>
            <a:custGeom>
              <a:avLst/>
              <a:gdLst/>
              <a:ahLst/>
              <a:cxnLst/>
              <a:rect l="l" t="t" r="r" b="b"/>
              <a:pathLst>
                <a:path w="11704320" h="8365871">
                  <a:moveTo>
                    <a:pt x="0" y="0"/>
                  </a:moveTo>
                  <a:lnTo>
                    <a:pt x="11704320" y="0"/>
                  </a:lnTo>
                  <a:lnTo>
                    <a:pt x="11704320" y="8365871"/>
                  </a:lnTo>
                  <a:lnTo>
                    <a:pt x="0" y="8365871"/>
                  </a:lnTo>
                  <a:close/>
                </a:path>
              </a:pathLst>
            </a:custGeom>
            <a:blipFill>
              <a:blip r:embed="rId4"/>
              <a:stretch>
                <a:fillRect l="-2987" r="-2987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326880" y="3254264"/>
            <a:ext cx="8803576" cy="6293034"/>
            <a:chOff x="0" y="0"/>
            <a:chExt cx="11738102" cy="839071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738101" cy="8390763"/>
            </a:xfrm>
            <a:custGeom>
              <a:avLst/>
              <a:gdLst/>
              <a:ahLst/>
              <a:cxnLst/>
              <a:rect l="l" t="t" r="r" b="b"/>
              <a:pathLst>
                <a:path w="11738101" h="8390763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5588"/>
                    <a:pt x="11738101" y="12446"/>
                  </a:cubicBezTo>
                  <a:lnTo>
                    <a:pt x="11738101" y="8378317"/>
                  </a:lnTo>
                  <a:cubicBezTo>
                    <a:pt x="11738101" y="8385175"/>
                    <a:pt x="11730482" y="8390763"/>
                    <a:pt x="11721211" y="8390763"/>
                  </a:cubicBezTo>
                  <a:lnTo>
                    <a:pt x="16891" y="8390763"/>
                  </a:lnTo>
                  <a:cubicBezTo>
                    <a:pt x="7493" y="8390763"/>
                    <a:pt x="0" y="8385175"/>
                    <a:pt x="0" y="8378317"/>
                  </a:cubicBezTo>
                  <a:lnTo>
                    <a:pt x="0" y="12446"/>
                  </a:lnTo>
                  <a:cubicBezTo>
                    <a:pt x="0" y="5588"/>
                    <a:pt x="7620" y="0"/>
                    <a:pt x="16891" y="0"/>
                  </a:cubicBezTo>
                  <a:moveTo>
                    <a:pt x="16891" y="24892"/>
                  </a:moveTo>
                  <a:lnTo>
                    <a:pt x="16891" y="12446"/>
                  </a:lnTo>
                  <a:lnTo>
                    <a:pt x="33909" y="12446"/>
                  </a:lnTo>
                  <a:lnTo>
                    <a:pt x="33909" y="8378317"/>
                  </a:lnTo>
                  <a:lnTo>
                    <a:pt x="16891" y="8378317"/>
                  </a:lnTo>
                  <a:lnTo>
                    <a:pt x="16891" y="8365872"/>
                  </a:lnTo>
                  <a:lnTo>
                    <a:pt x="11721211" y="8365872"/>
                  </a:lnTo>
                  <a:lnTo>
                    <a:pt x="11721211" y="8378317"/>
                  </a:lnTo>
                  <a:lnTo>
                    <a:pt x="11704320" y="8378317"/>
                  </a:lnTo>
                  <a:lnTo>
                    <a:pt x="11704320" y="12446"/>
                  </a:lnTo>
                  <a:lnTo>
                    <a:pt x="11721211" y="12446"/>
                  </a:lnTo>
                  <a:lnTo>
                    <a:pt x="11721211" y="25019"/>
                  </a:lnTo>
                  <a:lnTo>
                    <a:pt x="16891" y="25019"/>
                  </a:lnTo>
                  <a:close/>
                </a:path>
              </a:pathLst>
            </a:custGeom>
            <a:solidFill>
              <a:srgbClr val="B0CCE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4400" y="1792224"/>
            <a:ext cx="16459200" cy="1024128"/>
            <a:chOff x="0" y="0"/>
            <a:chExt cx="21945600" cy="136550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45600" cy="1365504"/>
            </a:xfrm>
            <a:custGeom>
              <a:avLst/>
              <a:gdLst/>
              <a:ahLst/>
              <a:cxnLst/>
              <a:rect l="l" t="t" r="r" b="b"/>
              <a:pathLst>
                <a:path w="21945600" h="1365504">
                  <a:moveTo>
                    <a:pt x="0" y="0"/>
                  </a:moveTo>
                  <a:lnTo>
                    <a:pt x="21945600" y="0"/>
                  </a:lnTo>
                  <a:lnTo>
                    <a:pt x="21945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2934" b="-26293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4400" y="1763649"/>
            <a:ext cx="16459200" cy="1052703"/>
            <a:chOff x="0" y="0"/>
            <a:chExt cx="21945600" cy="140360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945600" cy="1403604"/>
            </a:xfrm>
            <a:custGeom>
              <a:avLst/>
              <a:gdLst/>
              <a:ahLst/>
              <a:cxnLst/>
              <a:rect l="l" t="t" r="r" b="b"/>
              <a:pathLst>
                <a:path w="21945600" h="1403604">
                  <a:moveTo>
                    <a:pt x="0" y="0"/>
                  </a:moveTo>
                  <a:lnTo>
                    <a:pt x="21945600" y="0"/>
                  </a:lnTo>
                  <a:lnTo>
                    <a:pt x="21945600" y="1403604"/>
                  </a:lnTo>
                  <a:lnTo>
                    <a:pt x="0" y="1403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4652" b="-25465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21945600" cy="141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1A1A2E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A new TestResult should decrement component stock. How would you implement that in a trigger?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554480"/>
            <a:chOff x="0" y="0"/>
            <a:chExt cx="24384000" cy="2072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72640"/>
            </a:xfrm>
            <a:custGeom>
              <a:avLst/>
              <a:gdLst/>
              <a:ahLst/>
              <a:cxnLst/>
              <a:rect l="l" t="t" r="r" b="b"/>
              <a:pathLst>
                <a:path w="24384000" h="207264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0"/>
            <a:ext cx="16459200" cy="1554480"/>
            <a:chOff x="0" y="0"/>
            <a:chExt cx="21945600" cy="2072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6168" b="-15616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520" y="-64294"/>
            <a:ext cx="16459200" cy="1618774"/>
            <a:chOff x="0" y="0"/>
            <a:chExt cx="21945600" cy="21583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158365"/>
            </a:xfrm>
            <a:custGeom>
              <a:avLst/>
              <a:gdLst/>
              <a:ahLst/>
              <a:cxnLst/>
              <a:rect l="l" t="t" r="r" b="b"/>
              <a:pathLst>
                <a:path w="21945600" h="2158365">
                  <a:moveTo>
                    <a:pt x="0" y="0"/>
                  </a:moveTo>
                  <a:lnTo>
                    <a:pt x="21945600" y="0"/>
                  </a:lnTo>
                  <a:lnTo>
                    <a:pt x="21945600" y="2158365"/>
                  </a:lnTo>
                  <a:lnTo>
                    <a:pt x="0" y="2158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117" b="-14811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186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Q2  –  Query: Patient 12527 Tests in the Past Year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8640" y="1737360"/>
            <a:ext cx="17190720" cy="950976"/>
            <a:chOff x="0" y="0"/>
            <a:chExt cx="22920960" cy="12679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20961" cy="1267968"/>
            </a:xfrm>
            <a:custGeom>
              <a:avLst/>
              <a:gdLst/>
              <a:ahLst/>
              <a:cxnLst/>
              <a:rect l="l" t="t" r="r" b="b"/>
              <a:pathLst>
                <a:path w="22920961" h="1267968">
                  <a:moveTo>
                    <a:pt x="0" y="0"/>
                  </a:moveTo>
                  <a:lnTo>
                    <a:pt x="22920961" y="0"/>
                  </a:lnTo>
                  <a:lnTo>
                    <a:pt x="2292096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1737360"/>
            <a:ext cx="128016" cy="950976"/>
            <a:chOff x="0" y="0"/>
            <a:chExt cx="170688" cy="12679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0688" cy="1267968"/>
            </a:xfrm>
            <a:custGeom>
              <a:avLst/>
              <a:gdLst/>
              <a:ahLst/>
              <a:cxnLst/>
              <a:rect l="l" t="t" r="r" b="b"/>
              <a:pathLst>
                <a:path w="170688" h="1267968">
                  <a:moveTo>
                    <a:pt x="0" y="0"/>
                  </a:moveTo>
                  <a:lnTo>
                    <a:pt x="170688" y="0"/>
                  </a:lnTo>
                  <a:lnTo>
                    <a:pt x="17068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D7A5F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1792224"/>
            <a:ext cx="16459200" cy="841248"/>
            <a:chOff x="0" y="0"/>
            <a:chExt cx="21945600" cy="11216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45600" cy="1121664"/>
            </a:xfrm>
            <a:custGeom>
              <a:avLst/>
              <a:gdLst/>
              <a:ahLst/>
              <a:cxnLst/>
              <a:rect l="l" t="t" r="r" b="b"/>
              <a:pathLst>
                <a:path w="21945600" h="1121664">
                  <a:moveTo>
                    <a:pt x="0" y="0"/>
                  </a:moveTo>
                  <a:lnTo>
                    <a:pt x="21945600" y="0"/>
                  </a:lnTo>
                  <a:lnTo>
                    <a:pt x="21945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0963" b="-33096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" y="1763649"/>
            <a:ext cx="16459200" cy="869823"/>
            <a:chOff x="0" y="0"/>
            <a:chExt cx="21945600" cy="11597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45600" cy="1159764"/>
            </a:xfrm>
            <a:custGeom>
              <a:avLst/>
              <a:gdLst/>
              <a:ahLst/>
              <a:cxnLst/>
              <a:rect l="l" t="t" r="r" b="b"/>
              <a:pathLst>
                <a:path w="21945600" h="1159764">
                  <a:moveTo>
                    <a:pt x="0" y="0"/>
                  </a:moveTo>
                  <a:lnTo>
                    <a:pt x="21945600" y="0"/>
                  </a:lnTo>
                  <a:lnTo>
                    <a:pt x="21945600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8705" b="-31870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219456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1A1A2E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Write in words a query to list all tests performed by patient 12527 in the past year, including test date and laboratorian.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8640" y="3356886"/>
            <a:ext cx="7631735" cy="4572000"/>
            <a:chOff x="0" y="0"/>
            <a:chExt cx="10175646" cy="6096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75621" cy="6096000"/>
            </a:xfrm>
            <a:custGeom>
              <a:avLst/>
              <a:gdLst/>
              <a:ahLst/>
              <a:cxnLst/>
              <a:rect l="l" t="t" r="r" b="b"/>
              <a:pathLst>
                <a:path w="10175621" h="6096000">
                  <a:moveTo>
                    <a:pt x="0" y="0"/>
                  </a:moveTo>
                  <a:lnTo>
                    <a:pt x="10175621" y="0"/>
                  </a:lnTo>
                  <a:lnTo>
                    <a:pt x="10175621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17" r="-26917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8640" y="3321167"/>
            <a:ext cx="7631735" cy="4607719"/>
            <a:chOff x="0" y="0"/>
            <a:chExt cx="10175646" cy="61436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75649" cy="6143625"/>
            </a:xfrm>
            <a:custGeom>
              <a:avLst/>
              <a:gdLst/>
              <a:ahLst/>
              <a:cxnLst/>
              <a:rect l="l" t="t" r="r" b="b"/>
              <a:pathLst>
                <a:path w="10175649" h="6143625">
                  <a:moveTo>
                    <a:pt x="0" y="0"/>
                  </a:moveTo>
                  <a:lnTo>
                    <a:pt x="10175649" y="0"/>
                  </a:lnTo>
                  <a:lnTo>
                    <a:pt x="10175649" y="6143625"/>
                  </a:lnTo>
                  <a:lnTo>
                    <a:pt x="0" y="61436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464" r="-27464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0175646" cy="6162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From the TEST_RESULT table, retrieve the </a:t>
              </a:r>
              <a:r>
                <a:rPr lang="en-US" sz="23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test name</a:t>
              </a: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23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test date</a:t>
              </a: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and </a:t>
              </a:r>
              <a:r>
                <a:rPr lang="en-US" sz="23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laboratorian name</a:t>
              </a: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by joining with MEDICAL_TEST (to get the test name) and Laboratorian (to get the name). Filter rows to </a:t>
              </a:r>
              <a:r>
                <a:rPr lang="en-US" sz="2300" b="1" err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Patient_ID</a:t>
              </a:r>
              <a:r>
                <a:rPr lang="en-US" sz="23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= 12527</a:t>
              </a: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lang="en-US" sz="2300" b="1" err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TS_Date</a:t>
              </a:r>
              <a:r>
                <a:rPr lang="en-US" sz="23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within the last 12 months</a:t>
              </a:r>
              <a:r>
                <a:rPr lang="en-US" sz="23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using DATE_SUB(CURDATE(), INTERVAL 1 YEAR).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405222" y="3966591"/>
            <a:ext cx="9633166" cy="4477683"/>
            <a:chOff x="0" y="0"/>
            <a:chExt cx="12844221" cy="59702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844272" cy="5970270"/>
            </a:xfrm>
            <a:custGeom>
              <a:avLst/>
              <a:gdLst/>
              <a:ahLst/>
              <a:cxnLst/>
              <a:rect l="l" t="t" r="r" b="b"/>
              <a:pathLst>
                <a:path w="12844272" h="5970270">
                  <a:moveTo>
                    <a:pt x="0" y="0"/>
                  </a:moveTo>
                  <a:lnTo>
                    <a:pt x="12844272" y="0"/>
                  </a:lnTo>
                  <a:lnTo>
                    <a:pt x="12844272" y="5970270"/>
                  </a:lnTo>
                  <a:lnTo>
                    <a:pt x="0" y="5970270"/>
                  </a:lnTo>
                  <a:close/>
                </a:path>
              </a:pathLst>
            </a:custGeom>
            <a:blipFill>
              <a:blip r:embed="rId4"/>
              <a:stretch>
                <a:fillRect l="-129" r="-12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48640" y="6740166"/>
            <a:ext cx="7631735" cy="1188720"/>
            <a:chOff x="0" y="0"/>
            <a:chExt cx="10175646" cy="15849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75621" cy="1584960"/>
            </a:xfrm>
            <a:custGeom>
              <a:avLst/>
              <a:gdLst/>
              <a:ahLst/>
              <a:cxnLst/>
              <a:rect l="l" t="t" r="r" b="b"/>
              <a:pathLst>
                <a:path w="10175621" h="1584960">
                  <a:moveTo>
                    <a:pt x="0" y="0"/>
                  </a:moveTo>
                  <a:lnTo>
                    <a:pt x="10175621" y="0"/>
                  </a:lnTo>
                  <a:lnTo>
                    <a:pt x="1017562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5009" b="-7500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8640" y="6704447"/>
            <a:ext cx="7631737" cy="1584826"/>
            <a:chOff x="0" y="0"/>
            <a:chExt cx="10175649" cy="211310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75649" cy="1632585"/>
            </a:xfrm>
            <a:custGeom>
              <a:avLst/>
              <a:gdLst/>
              <a:ahLst/>
              <a:cxnLst/>
              <a:rect l="l" t="t" r="r" b="b"/>
              <a:pathLst>
                <a:path w="10175649" h="1632585">
                  <a:moveTo>
                    <a:pt x="0" y="0"/>
                  </a:moveTo>
                  <a:lnTo>
                    <a:pt x="10175649" y="0"/>
                  </a:lnTo>
                  <a:lnTo>
                    <a:pt x="10175649" y="1632585"/>
                  </a:lnTo>
                  <a:lnTo>
                    <a:pt x="0" y="16325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447" b="-7144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461465"/>
              <a:ext cx="10175646" cy="1651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Expected output: Test name | Date | Laboratorian Name — one row per test undergone by this patient in the past 12 months.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8640" y="3646551"/>
            <a:ext cx="3657600" cy="640080"/>
            <a:chOff x="0" y="0"/>
            <a:chExt cx="4876800" cy="853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76800" cy="853440"/>
            </a:xfrm>
            <a:custGeom>
              <a:avLst/>
              <a:gdLst/>
              <a:ahLst/>
              <a:cxnLst/>
              <a:rect l="l" t="t" r="r" b="b"/>
              <a:pathLst>
                <a:path w="4876800" h="85344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266" b="-6126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48640" y="3603688"/>
            <a:ext cx="3657600" cy="682942"/>
            <a:chOff x="0" y="0"/>
            <a:chExt cx="4876800" cy="91059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76800" cy="910590"/>
            </a:xfrm>
            <a:custGeom>
              <a:avLst/>
              <a:gdLst/>
              <a:ahLst/>
              <a:cxnLst/>
              <a:rect l="l" t="t" r="r" b="b"/>
              <a:pathLst>
                <a:path w="4876800" h="910590">
                  <a:moveTo>
                    <a:pt x="0" y="0"/>
                  </a:moveTo>
                  <a:lnTo>
                    <a:pt x="4876800" y="0"/>
                  </a:lnTo>
                  <a:lnTo>
                    <a:pt x="487680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355" b="-5435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487680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A8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Answer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554480"/>
            <a:chOff x="0" y="0"/>
            <a:chExt cx="24384000" cy="2072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72640"/>
            </a:xfrm>
            <a:custGeom>
              <a:avLst/>
              <a:gdLst/>
              <a:ahLst/>
              <a:cxnLst/>
              <a:rect l="l" t="t" r="r" b="b"/>
              <a:pathLst>
                <a:path w="24384000" h="207264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0"/>
            <a:ext cx="16459200" cy="1554480"/>
            <a:chOff x="0" y="0"/>
            <a:chExt cx="21945600" cy="2072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6168" b="-15616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520" y="-78581"/>
            <a:ext cx="16459200" cy="1633061"/>
            <a:chOff x="0" y="0"/>
            <a:chExt cx="21945600" cy="21774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177415"/>
            </a:xfrm>
            <a:custGeom>
              <a:avLst/>
              <a:gdLst/>
              <a:ahLst/>
              <a:cxnLst/>
              <a:rect l="l" t="t" r="r" b="b"/>
              <a:pathLst>
                <a:path w="21945600" h="2177415">
                  <a:moveTo>
                    <a:pt x="0" y="0"/>
                  </a:moveTo>
                  <a:lnTo>
                    <a:pt x="21945600" y="0"/>
                  </a:lnTo>
                  <a:lnTo>
                    <a:pt x="21945600" y="2177415"/>
                  </a:lnTo>
                  <a:lnTo>
                    <a:pt x="0" y="2177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384" b="-146384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205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Sample Data &amp; Query Results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8640" y="1737360"/>
            <a:ext cx="17190720" cy="640080"/>
            <a:chOff x="0" y="0"/>
            <a:chExt cx="22920960" cy="8534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20961" cy="853440"/>
            </a:xfrm>
            <a:custGeom>
              <a:avLst/>
              <a:gdLst/>
              <a:ahLst/>
              <a:cxnLst/>
              <a:rect l="l" t="t" r="r" b="b"/>
              <a:pathLst>
                <a:path w="22920961" h="853440">
                  <a:moveTo>
                    <a:pt x="0" y="0"/>
                  </a:moveTo>
                  <a:lnTo>
                    <a:pt x="22920961" y="0"/>
                  </a:lnTo>
                  <a:lnTo>
                    <a:pt x="229209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2947" b="-47294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1694497"/>
            <a:ext cx="17190720" cy="682943"/>
            <a:chOff x="0" y="0"/>
            <a:chExt cx="22920960" cy="9105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920961" cy="910590"/>
            </a:xfrm>
            <a:custGeom>
              <a:avLst/>
              <a:gdLst/>
              <a:ahLst/>
              <a:cxnLst/>
              <a:rect l="l" t="t" r="r" b="b"/>
              <a:pathLst>
                <a:path w="22920961" h="910590">
                  <a:moveTo>
                    <a:pt x="0" y="0"/>
                  </a:moveTo>
                  <a:lnTo>
                    <a:pt x="22920961" y="0"/>
                  </a:lnTo>
                  <a:lnTo>
                    <a:pt x="22920961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0468" b="-440468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292096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D5C8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Low-Stock Alert Results  (Available &lt; Minimum)</a:t>
              </a:r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48640" y="2468880"/>
          <a:ext cx="11811000" cy="3556000"/>
        </p:xfrm>
        <a:graphic>
          <a:graphicData uri="http://schemas.openxmlformats.org/drawingml/2006/table">
            <a:tbl>
              <a:tblPr/>
              <a:tblGrid>
                <a:gridCol w="2549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9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9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Component ID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Name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Available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Minimum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Tubes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Glucose Reagent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Urine Strips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Saline Solution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5" name="Group 15"/>
          <p:cNvGrpSpPr/>
          <p:nvPr/>
        </p:nvGrpSpPr>
        <p:grpSpPr>
          <a:xfrm>
            <a:off x="548640" y="6400800"/>
            <a:ext cx="17190720" cy="640080"/>
            <a:chOff x="0" y="0"/>
            <a:chExt cx="22920960" cy="853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920961" cy="853440"/>
            </a:xfrm>
            <a:custGeom>
              <a:avLst/>
              <a:gdLst/>
              <a:ahLst/>
              <a:cxnLst/>
              <a:rect l="l" t="t" r="r" b="b"/>
              <a:pathLst>
                <a:path w="22920961" h="853440">
                  <a:moveTo>
                    <a:pt x="0" y="0"/>
                  </a:moveTo>
                  <a:lnTo>
                    <a:pt x="22920961" y="0"/>
                  </a:lnTo>
                  <a:lnTo>
                    <a:pt x="229209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2947" b="-47294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8640" y="6357938"/>
            <a:ext cx="17190720" cy="682943"/>
            <a:chOff x="0" y="0"/>
            <a:chExt cx="22920960" cy="9105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920961" cy="910590"/>
            </a:xfrm>
            <a:custGeom>
              <a:avLst/>
              <a:gdLst/>
              <a:ahLst/>
              <a:cxnLst/>
              <a:rect l="l" t="t" r="r" b="b"/>
              <a:pathLst>
                <a:path w="22920961" h="910590">
                  <a:moveTo>
                    <a:pt x="0" y="0"/>
                  </a:moveTo>
                  <a:lnTo>
                    <a:pt x="22920961" y="0"/>
                  </a:lnTo>
                  <a:lnTo>
                    <a:pt x="22920961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0468" b="-440468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292096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D5C8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Q2 Result – Tests by Patient 12527</a:t>
              </a:r>
            </a:p>
          </p:txBody>
        </p:sp>
      </p:grp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548640" y="7132320"/>
          <a:ext cx="12738100" cy="1828800"/>
        </p:xfrm>
        <a:graphic>
          <a:graphicData uri="http://schemas.openxmlformats.org/drawingml/2006/table">
            <a:tbl>
              <a:tblPr/>
              <a:tblGrid>
                <a:gridCol w="4366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Test Name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Date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Laboratorian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Blood Glucose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2025-06-10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James Anderson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1" name="Group 21"/>
          <p:cNvGrpSpPr/>
          <p:nvPr/>
        </p:nvGrpSpPr>
        <p:grpSpPr>
          <a:xfrm>
            <a:off x="12618720" y="2468880"/>
            <a:ext cx="5212080" cy="6492240"/>
            <a:chOff x="0" y="0"/>
            <a:chExt cx="6949440" cy="86563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49440" cy="8656320"/>
            </a:xfrm>
            <a:custGeom>
              <a:avLst/>
              <a:gdLst/>
              <a:ahLst/>
              <a:cxnLst/>
              <a:rect l="l" t="t" r="r" b="b"/>
              <a:pathLst>
                <a:path w="6949440" h="8656320">
                  <a:moveTo>
                    <a:pt x="0" y="0"/>
                  </a:moveTo>
                  <a:lnTo>
                    <a:pt x="6949440" y="0"/>
                  </a:lnTo>
                  <a:lnTo>
                    <a:pt x="6949440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E8F4F8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801600" y="2651760"/>
            <a:ext cx="4754880" cy="640080"/>
            <a:chOff x="0" y="0"/>
            <a:chExt cx="6339840" cy="8534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4645" b="-9464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801600" y="2623185"/>
            <a:ext cx="4754880" cy="668655"/>
            <a:chOff x="0" y="0"/>
            <a:chExt cx="6339840" cy="8915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39840" cy="891540"/>
            </a:xfrm>
            <a:custGeom>
              <a:avLst/>
              <a:gdLst/>
              <a:ahLst/>
              <a:cxnLst/>
              <a:rect l="l" t="t" r="r" b="b"/>
              <a:pathLst>
                <a:path w="6339840" h="891540">
                  <a:moveTo>
                    <a:pt x="0" y="0"/>
                  </a:moveTo>
                  <a:lnTo>
                    <a:pt x="6339840" y="0"/>
                  </a:lnTo>
                  <a:lnTo>
                    <a:pt x="633984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560" b="-88560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63398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D5C8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Trigger Effect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801600" y="3383280"/>
            <a:ext cx="4754880" cy="5120640"/>
            <a:chOff x="0" y="0"/>
            <a:chExt cx="6339840" cy="6827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39840" cy="6827520"/>
            </a:xfrm>
            <a:custGeom>
              <a:avLst/>
              <a:gdLst/>
              <a:ahLst/>
              <a:cxnLst/>
              <a:rect l="l" t="t" r="r" b="b"/>
              <a:pathLst>
                <a:path w="6339840" h="6827520">
                  <a:moveTo>
                    <a:pt x="0" y="0"/>
                  </a:moveTo>
                  <a:lnTo>
                    <a:pt x="6339840" y="0"/>
                  </a:lnTo>
                  <a:lnTo>
                    <a:pt x="633984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269" r="-8826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801600" y="3347561"/>
            <a:ext cx="4754880" cy="5156359"/>
            <a:chOff x="0" y="0"/>
            <a:chExt cx="6339840" cy="687514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39840" cy="6875145"/>
            </a:xfrm>
            <a:custGeom>
              <a:avLst/>
              <a:gdLst/>
              <a:ahLst/>
              <a:cxnLst/>
              <a:rect l="l" t="t" r="r" b="b"/>
              <a:pathLst>
                <a:path w="6339840" h="6875145">
                  <a:moveTo>
                    <a:pt x="0" y="0"/>
                  </a:moveTo>
                  <a:lnTo>
                    <a:pt x="6339840" y="0"/>
                  </a:lnTo>
                  <a:lnTo>
                    <a:pt x="6339840" y="6875145"/>
                  </a:lnTo>
                  <a:lnTo>
                    <a:pt x="0" y="6875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136" r="-89136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6339840" cy="6894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After each INSERT into TEST_RESULT, the trigger auto-decrements </a:t>
              </a:r>
              <a:r>
                <a:rPr lang="en-US" sz="2400" err="1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Available_quantity</a:t>
              </a: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for every component linked to that test via the ASSOCIATION table.</a:t>
              </a:r>
            </a:p>
            <a:p>
              <a:pPr algn="l">
                <a:lnSpc>
                  <a:spcPct val="150000"/>
                </a:lnSpc>
              </a:pPr>
              <a:endParaRPr lang="en-US" sz="24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l">
                <a:lnSpc>
                  <a:spcPct val="150000"/>
                </a:lnSpc>
              </a:pPr>
              <a:r>
                <a:rPr lang="en-US" sz="24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13 test results inserted → 20 component decrements applied automatically.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554480"/>
            <a:chOff x="0" y="0"/>
            <a:chExt cx="24384000" cy="2072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72640"/>
            </a:xfrm>
            <a:custGeom>
              <a:avLst/>
              <a:gdLst/>
              <a:ahLst/>
              <a:cxnLst/>
              <a:rect l="l" t="t" r="r" b="b"/>
              <a:pathLst>
                <a:path w="24384000" h="207264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0"/>
            <a:ext cx="16459200" cy="1554480"/>
            <a:chOff x="0" y="0"/>
            <a:chExt cx="21945600" cy="2072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6168" b="-15616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1520" y="-64294"/>
            <a:ext cx="16459200" cy="1618774"/>
            <a:chOff x="0" y="0"/>
            <a:chExt cx="21945600" cy="21583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158365"/>
            </a:xfrm>
            <a:custGeom>
              <a:avLst/>
              <a:gdLst/>
              <a:ahLst/>
              <a:cxnLst/>
              <a:rect l="l" t="t" r="r" b="b"/>
              <a:pathLst>
                <a:path w="21945600" h="2158365">
                  <a:moveTo>
                    <a:pt x="0" y="0"/>
                  </a:moveTo>
                  <a:lnTo>
                    <a:pt x="21945600" y="0"/>
                  </a:lnTo>
                  <a:lnTo>
                    <a:pt x="21945600" y="2158365"/>
                  </a:lnTo>
                  <a:lnTo>
                    <a:pt x="0" y="2158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117" b="-14811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186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Q3  –  Index for Low-Stock Alerts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8640" y="1737360"/>
            <a:ext cx="17190720" cy="950976"/>
            <a:chOff x="0" y="0"/>
            <a:chExt cx="22920960" cy="12679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20961" cy="1267968"/>
            </a:xfrm>
            <a:custGeom>
              <a:avLst/>
              <a:gdLst/>
              <a:ahLst/>
              <a:cxnLst/>
              <a:rect l="l" t="t" r="r" b="b"/>
              <a:pathLst>
                <a:path w="22920961" h="1267968">
                  <a:moveTo>
                    <a:pt x="0" y="0"/>
                  </a:moveTo>
                  <a:lnTo>
                    <a:pt x="22920961" y="0"/>
                  </a:lnTo>
                  <a:lnTo>
                    <a:pt x="2292096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DE7F6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1737360"/>
            <a:ext cx="128016" cy="950976"/>
            <a:chOff x="0" y="0"/>
            <a:chExt cx="170688" cy="12679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0688" cy="1267968"/>
            </a:xfrm>
            <a:custGeom>
              <a:avLst/>
              <a:gdLst/>
              <a:ahLst/>
              <a:cxnLst/>
              <a:rect l="l" t="t" r="r" b="b"/>
              <a:pathLst>
                <a:path w="170688" h="1267968">
                  <a:moveTo>
                    <a:pt x="0" y="0"/>
                  </a:moveTo>
                  <a:lnTo>
                    <a:pt x="170688" y="0"/>
                  </a:lnTo>
                  <a:lnTo>
                    <a:pt x="17068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7B1FA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1792224"/>
            <a:ext cx="16459200" cy="841248"/>
            <a:chOff x="0" y="0"/>
            <a:chExt cx="21945600" cy="11216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45600" cy="1121664"/>
            </a:xfrm>
            <a:custGeom>
              <a:avLst/>
              <a:gdLst/>
              <a:ahLst/>
              <a:cxnLst/>
              <a:rect l="l" t="t" r="r" b="b"/>
              <a:pathLst>
                <a:path w="21945600" h="1121664">
                  <a:moveTo>
                    <a:pt x="0" y="0"/>
                  </a:moveTo>
                  <a:lnTo>
                    <a:pt x="21945600" y="0"/>
                  </a:lnTo>
                  <a:lnTo>
                    <a:pt x="21945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0963" b="-33096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" y="1763649"/>
            <a:ext cx="16459200" cy="869823"/>
            <a:chOff x="0" y="0"/>
            <a:chExt cx="21945600" cy="11597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45600" cy="1159764"/>
            </a:xfrm>
            <a:custGeom>
              <a:avLst/>
              <a:gdLst/>
              <a:ahLst/>
              <a:cxnLst/>
              <a:rect l="l" t="t" r="r" b="b"/>
              <a:pathLst>
                <a:path w="21945600" h="1159764">
                  <a:moveTo>
                    <a:pt x="0" y="0"/>
                  </a:moveTo>
                  <a:lnTo>
                    <a:pt x="21945600" y="0"/>
                  </a:lnTo>
                  <a:lnTo>
                    <a:pt x="21945600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8705" b="-31870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219456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1A1A2E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Which index(es) speed up low-stock alerts (components below minimum_quantity)?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8640" y="2926080"/>
            <a:ext cx="8229600" cy="694944"/>
            <a:chOff x="0" y="0"/>
            <a:chExt cx="10972800" cy="9265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72800" cy="926592"/>
            </a:xfrm>
            <a:custGeom>
              <a:avLst/>
              <a:gdLst/>
              <a:ahLst/>
              <a:cxnLst/>
              <a:rect l="l" t="t" r="r" b="b"/>
              <a:pathLst>
                <a:path w="10972800" h="926592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0583" b="-18058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8640" y="2883218"/>
            <a:ext cx="8229600" cy="737806"/>
            <a:chOff x="0" y="0"/>
            <a:chExt cx="10972800" cy="9837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72800" cy="983742"/>
            </a:xfrm>
            <a:custGeom>
              <a:avLst/>
              <a:gdLst/>
              <a:ahLst/>
              <a:cxnLst/>
              <a:rect l="l" t="t" r="r" b="b"/>
              <a:pathLst>
                <a:path w="10972800" h="983742">
                  <a:moveTo>
                    <a:pt x="0" y="0"/>
                  </a:moveTo>
                  <a:lnTo>
                    <a:pt x="10972800" y="0"/>
                  </a:lnTo>
                  <a:lnTo>
                    <a:pt x="1097280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338" b="-167338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0972800" cy="1002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A8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Answer &amp; Reasoning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65760" y="3443211"/>
            <a:ext cx="8595360" cy="5852160"/>
            <a:chOff x="0" y="0"/>
            <a:chExt cx="11460480" cy="78028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460480" cy="7802880"/>
            </a:xfrm>
            <a:custGeom>
              <a:avLst/>
              <a:gdLst/>
              <a:ahLst/>
              <a:cxnLst/>
              <a:rect l="l" t="t" r="r" b="b"/>
              <a:pathLst>
                <a:path w="11460480" h="7802880">
                  <a:moveTo>
                    <a:pt x="0" y="0"/>
                  </a:moveTo>
                  <a:lnTo>
                    <a:pt x="11460480" y="0"/>
                  </a:lnTo>
                  <a:lnTo>
                    <a:pt x="11460480" y="7802880"/>
                  </a:lnTo>
                  <a:lnTo>
                    <a:pt x="0" y="7802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416" r="-37416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65760" y="3407493"/>
            <a:ext cx="8595360" cy="5887879"/>
            <a:chOff x="0" y="0"/>
            <a:chExt cx="11460480" cy="785050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460480" cy="7850505"/>
            </a:xfrm>
            <a:custGeom>
              <a:avLst/>
              <a:gdLst/>
              <a:ahLst/>
              <a:cxnLst/>
              <a:rect l="l" t="t" r="r" b="b"/>
              <a:pathLst>
                <a:path w="11460480" h="7850505">
                  <a:moveTo>
                    <a:pt x="0" y="0"/>
                  </a:moveTo>
                  <a:lnTo>
                    <a:pt x="11460480" y="0"/>
                  </a:lnTo>
                  <a:lnTo>
                    <a:pt x="11460480" y="7850505"/>
                  </a:lnTo>
                  <a:lnTo>
                    <a:pt x="0" y="7850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888" r="-37888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1460480" cy="7869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4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alert query is:</a:t>
              </a:r>
            </a:p>
            <a:p>
              <a:pPr algn="l">
                <a:lnSpc>
                  <a:spcPts val="2760"/>
                </a:lnSpc>
              </a:pPr>
              <a:r>
                <a:rPr lang="en-US" sz="2400">
                  <a:solidFill>
                    <a:srgbClr val="1A1A2E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WHERE </a:t>
              </a:r>
              <a:r>
                <a:rPr lang="en-US" sz="2400" err="1">
                  <a:solidFill>
                    <a:srgbClr val="1A1A2E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Available_quantity</a:t>
              </a:r>
              <a:r>
                <a:rPr lang="en-US" sz="2400">
                  <a:solidFill>
                    <a:srgbClr val="1A1A2E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 &lt; </a:t>
              </a:r>
              <a:r>
                <a:rPr lang="en-US" sz="2400" err="1">
                  <a:solidFill>
                    <a:srgbClr val="1A1A2E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Minimum_quantity</a:t>
              </a:r>
              <a:endParaRPr lang="en-US" sz="2400">
                <a:solidFill>
                  <a:srgbClr val="1A1A2E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endParaRPr>
            </a:p>
            <a:p>
              <a:pPr algn="l">
                <a:lnSpc>
                  <a:spcPts val="2760"/>
                </a:lnSpc>
              </a:pPr>
              <a:endParaRPr lang="en-US" sz="2400">
                <a:solidFill>
                  <a:srgbClr val="1A1A2E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endParaRPr>
            </a:p>
            <a:p>
              <a:pPr algn="l">
                <a:lnSpc>
                  <a:spcPts val="2760"/>
                </a:lnSpc>
              </a:pP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composite index on (</a:t>
              </a:r>
              <a:r>
                <a:rPr lang="en-US" sz="2400" err="1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Available_quantity</a:t>
              </a: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2400" err="1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Minimum_quantity</a:t>
              </a: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 lets the database engine evaluate this condition entirely within the index — without reading the main table rows (index-only scan).</a:t>
              </a:r>
            </a:p>
            <a:p>
              <a:pPr algn="l">
                <a:lnSpc>
                  <a:spcPts val="2760"/>
                </a:lnSpc>
              </a:pPr>
              <a:endParaRPr lang="en-US" sz="24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l">
                <a:lnSpc>
                  <a:spcPts val="2760"/>
                </a:lnSpc>
              </a:pPr>
              <a:endParaRPr lang="en-US" sz="24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l">
                <a:lnSpc>
                  <a:spcPts val="2760"/>
                </a:lnSpc>
              </a:pPr>
              <a:r>
                <a:rPr lang="en-US" sz="24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composite?</a:t>
              </a:r>
            </a:p>
            <a:p>
              <a:pPr algn="l">
                <a:lnSpc>
                  <a:spcPts val="2760"/>
                </a:lnSpc>
              </a:pP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Both columns appear in the filter expression. A single-column index on </a:t>
              </a:r>
              <a:r>
                <a:rPr lang="en-US" sz="2400" err="1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Available_quantity</a:t>
              </a: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alone would still require a table lookup to fetch </a:t>
              </a:r>
              <a:r>
                <a:rPr lang="en-US" sz="2400" err="1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Minimum_quantity</a:t>
              </a: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for comparison.</a:t>
              </a:r>
            </a:p>
            <a:p>
              <a:pPr algn="l">
                <a:lnSpc>
                  <a:spcPts val="2760"/>
                </a:lnSpc>
              </a:pPr>
              <a:endParaRPr lang="en-US" sz="24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l">
                <a:lnSpc>
                  <a:spcPts val="2760"/>
                </a:lnSpc>
              </a:pPr>
              <a:r>
                <a:rPr lang="en-US" sz="2400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Result: </a:t>
              </a:r>
              <a:r>
                <a:rPr lang="en-US" sz="24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Significantly faster scans on large component inventories.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236888" y="4172436"/>
            <a:ext cx="8710955" cy="1942128"/>
            <a:chOff x="0" y="0"/>
            <a:chExt cx="11614607" cy="258950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614658" cy="2589530"/>
            </a:xfrm>
            <a:custGeom>
              <a:avLst/>
              <a:gdLst/>
              <a:ahLst/>
              <a:cxnLst/>
              <a:rect l="l" t="t" r="r" b="b"/>
              <a:pathLst>
                <a:path w="11614658" h="2589530">
                  <a:moveTo>
                    <a:pt x="0" y="0"/>
                  </a:moveTo>
                  <a:lnTo>
                    <a:pt x="11614658" y="0"/>
                  </a:lnTo>
                  <a:lnTo>
                    <a:pt x="11614658" y="2589530"/>
                  </a:lnTo>
                  <a:lnTo>
                    <a:pt x="0" y="2589530"/>
                  </a:lnTo>
                  <a:close/>
                </a:path>
              </a:pathLst>
            </a:custGeom>
            <a:blipFill>
              <a:blip r:embed="rId4"/>
              <a:stretch>
                <a:fillRect t="-164" b="-16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0" y="7112375"/>
            <a:ext cx="8803834" cy="1525476"/>
            <a:chOff x="0" y="0"/>
            <a:chExt cx="11738445" cy="203396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738483" cy="2034032"/>
            </a:xfrm>
            <a:custGeom>
              <a:avLst/>
              <a:gdLst/>
              <a:ahLst/>
              <a:cxnLst/>
              <a:rect l="l" t="t" r="r" b="b"/>
              <a:pathLst>
                <a:path w="11738483" h="2034032">
                  <a:moveTo>
                    <a:pt x="0" y="0"/>
                  </a:moveTo>
                  <a:lnTo>
                    <a:pt x="11738483" y="0"/>
                  </a:lnTo>
                  <a:lnTo>
                    <a:pt x="11738483" y="2034032"/>
                  </a:lnTo>
                  <a:lnTo>
                    <a:pt x="0" y="2034032"/>
                  </a:lnTo>
                  <a:close/>
                </a:path>
              </a:pathLst>
            </a:custGeom>
            <a:blipFill>
              <a:blip r:embed="rId5"/>
              <a:stretch>
                <a:fillRect t="-299" b="-29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shContent">
            <a:extLst>
              <a:ext uri="{FF2B5EF4-FFF2-40B4-BE49-F238E27FC236}">
                <a16:creationId xmlns:a16="http://schemas.microsoft.com/office/drawing/2014/main" id="{04C02BAB-B517-7C2A-49F8-3BA7A17FA96D}"/>
              </a:ext>
            </a:extLst>
          </p:cNvPr>
          <p:cNvSpPr txBox="1"/>
          <p:nvPr/>
        </p:nvSpPr>
        <p:spPr>
          <a:xfrm>
            <a:off x="375411" y="2298484"/>
            <a:ext cx="17537178" cy="1137797"/>
          </a:xfrm>
          <a:prstGeom prst="rect">
            <a:avLst/>
          </a:prstGeom>
          <a:solidFill>
            <a:srgbClr val="FFFFFF"/>
          </a:solidFill>
        </p:spPr>
        <p:txBody>
          <a:bodyPr lIns="120000" tIns="100000" rIns="120000" bIns="0" rtlCol="0" anchor="t"/>
          <a:lstStyle/>
          <a:p>
            <a:pPr algn="l">
              <a:lnSpc>
                <a:spcPts val="2200"/>
              </a:lnSpc>
            </a:pPr>
            <a:endParaRPr lang="en-US" sz="2400">
              <a:solidFill>
                <a:srgbClr val="1A1A2E"/>
              </a:solidFill>
              <a:latin typeface="Times New Roman"/>
            </a:endParaRPr>
          </a:p>
        </p:txBody>
      </p:sp>
      <p:sp>
        <p:nvSpPr>
          <p:cNvPr id="2" name="HeaderBar"/>
          <p:cNvSpPr/>
          <p:nvPr/>
        </p:nvSpPr>
        <p:spPr>
          <a:xfrm>
            <a:off x="0" y="0"/>
            <a:ext cx="18288000" cy="1731246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600000" y="188863"/>
            <a:ext cx="17000000" cy="141647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Times New Roman Bold"/>
              </a:rPr>
              <a:t>Application / UI Overview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00000" y="2399705"/>
            <a:ext cx="17000000" cy="78693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n-US" sz="2400" i="1">
                <a:solidFill>
                  <a:srgbClr val="1A1A2E"/>
                </a:solidFill>
                <a:latin typeface="Times New Roman"/>
              </a:rPr>
              <a:t>Python + Tkinter desktop app connecting to the MySQL project database via </a:t>
            </a:r>
            <a:r>
              <a:rPr lang="en-US" sz="2400" i="1" err="1">
                <a:solidFill>
                  <a:srgbClr val="1A1A2E"/>
                </a:solidFill>
                <a:latin typeface="Times New Roman"/>
              </a:rPr>
              <a:t>mysql.connector</a:t>
            </a:r>
            <a:endParaRPr lang="en-US" sz="2400" i="1">
              <a:solidFill>
                <a:srgbClr val="1A1A2E"/>
              </a:solidFill>
              <a:latin typeface="Times New Roman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E5F759-C02D-5EEE-2DEC-D38B4BC19F08}"/>
              </a:ext>
            </a:extLst>
          </p:cNvPr>
          <p:cNvGrpSpPr/>
          <p:nvPr/>
        </p:nvGrpSpPr>
        <p:grpSpPr>
          <a:xfrm>
            <a:off x="375411" y="3817042"/>
            <a:ext cx="7800000" cy="4829987"/>
            <a:chOff x="375411" y="3272745"/>
            <a:chExt cx="7800000" cy="4829987"/>
          </a:xfrm>
        </p:grpSpPr>
        <p:sp>
          <p:nvSpPr>
            <p:cNvPr id="6" name="LeftHdr"/>
            <p:cNvSpPr/>
            <p:nvPr/>
          </p:nvSpPr>
          <p:spPr>
            <a:xfrm>
              <a:off x="375411" y="3272745"/>
              <a:ext cx="7800000" cy="629544"/>
            </a:xfrm>
            <a:prstGeom prst="rect">
              <a:avLst/>
            </a:prstGeom>
            <a:solidFill>
              <a:srgbClr val="0D5C8A"/>
            </a:solidFill>
          </p:spPr>
          <p:txBody>
            <a:bodyPr lIns="100000" tIns="50000" rIns="0" bIns="0" rtlCol="0" anchor="ctr"/>
            <a:lstStyle/>
            <a:p>
              <a:pPr algn="l"/>
              <a:r>
                <a:rPr lang="en-US" sz="2800" b="1">
                  <a:solidFill>
                    <a:srgbClr val="FFFFFF"/>
                  </a:solidFill>
                  <a:latin typeface="Times New Roman Bold"/>
                </a:rPr>
                <a:t>Tech Stack</a:t>
              </a:r>
            </a:p>
          </p:txBody>
        </p:sp>
        <p:sp>
          <p:nvSpPr>
            <p:cNvPr id="7" name="LeftContent"/>
            <p:cNvSpPr txBox="1"/>
            <p:nvPr/>
          </p:nvSpPr>
          <p:spPr>
            <a:xfrm>
              <a:off x="375411" y="3980982"/>
              <a:ext cx="7800000" cy="4121750"/>
            </a:xfrm>
            <a:prstGeom prst="rect">
              <a:avLst/>
            </a:prstGeom>
            <a:solidFill>
              <a:srgbClr val="FFFFFF"/>
            </a:solidFill>
          </p:spPr>
          <p:txBody>
            <a:bodyPr lIns="120000" tIns="120000" rIns="120000" bIns="120000" rtlCol="0" anchor="t"/>
            <a:lstStyle/>
            <a:p>
              <a:pPr algn="l" defTabSz="1005840">
                <a:lnSpc>
                  <a:spcPct val="150000"/>
                </a:lnSpc>
              </a:pPr>
              <a:r>
                <a:rPr lang="en-US" sz="2400" b="1">
                  <a:solidFill>
                    <a:srgbClr val="0B1F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Language: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Python 3</a:t>
              </a:r>
            </a:p>
            <a:p>
              <a:pPr algn="l" defTabSz="1005840">
                <a:lnSpc>
                  <a:spcPct val="150000"/>
                </a:lnSpc>
              </a:pPr>
              <a:r>
                <a:rPr lang="en-US" sz="2400" b="1">
                  <a:solidFill>
                    <a:srgbClr val="0B1F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GUI Toolkit: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Tkinter</a:t>
              </a:r>
            </a:p>
            <a:p>
              <a:pPr algn="l" defTabSz="1005840">
                <a:lnSpc>
                  <a:spcPct val="150000"/>
                </a:lnSpc>
              </a:pPr>
              <a:r>
                <a:rPr lang="en-US" sz="2400" b="1">
                  <a:solidFill>
                    <a:srgbClr val="0B1F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DB Driver: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err="1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mysql.connector</a:t>
              </a:r>
              <a:endPara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 defTabSz="1005840">
                <a:lnSpc>
                  <a:spcPct val="150000"/>
                </a:lnSpc>
              </a:pPr>
              <a:r>
                <a:rPr lang="en-US" sz="2400" b="1">
                  <a:solidFill>
                    <a:srgbClr val="0B1F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Database: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MySQL (PROJECT)</a:t>
              </a:r>
            </a:p>
            <a:p>
              <a:pPr algn="l" defTabSz="1005840">
                <a:lnSpc>
                  <a:spcPct val="150000"/>
                </a:lnSpc>
              </a:pPr>
              <a:r>
                <a:rPr lang="en-US" sz="2400" b="1">
                  <a:solidFill>
                    <a:srgbClr val="0B1F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Architecture: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9 modules, single responsibility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6BB76A-2706-9030-3EAD-F9FBCE891503}"/>
              </a:ext>
            </a:extLst>
          </p:cNvPr>
          <p:cNvGrpSpPr/>
          <p:nvPr/>
        </p:nvGrpSpPr>
        <p:grpSpPr>
          <a:xfrm>
            <a:off x="9112589" y="3817042"/>
            <a:ext cx="8800000" cy="4829987"/>
            <a:chOff x="9112589" y="3305106"/>
            <a:chExt cx="8800000" cy="4829987"/>
          </a:xfrm>
        </p:grpSpPr>
        <p:sp>
          <p:nvSpPr>
            <p:cNvPr id="8" name="RightHdr"/>
            <p:cNvSpPr/>
            <p:nvPr/>
          </p:nvSpPr>
          <p:spPr>
            <a:xfrm>
              <a:off x="9112589" y="3305106"/>
              <a:ext cx="8800000" cy="629544"/>
            </a:xfrm>
            <a:prstGeom prst="rect">
              <a:avLst/>
            </a:prstGeom>
            <a:solidFill>
              <a:srgbClr val="0D5C8A"/>
            </a:solidFill>
          </p:spPr>
          <p:txBody>
            <a:bodyPr lIns="100000" tIns="50000" rIns="0" bIns="0" rtlCol="0" anchor="ctr"/>
            <a:lstStyle/>
            <a:p>
              <a:pPr algn="l"/>
              <a:r>
                <a:rPr lang="en-US" sz="2800" b="1">
                  <a:solidFill>
                    <a:srgbClr val="FFFFFF"/>
                  </a:solidFill>
                  <a:latin typeface="Times New Roman Bold"/>
                </a:rPr>
                <a:t>Module Structure (9 files)</a:t>
              </a:r>
            </a:p>
          </p:txBody>
        </p:sp>
        <p:sp>
          <p:nvSpPr>
            <p:cNvPr id="9" name="RightContent"/>
            <p:cNvSpPr txBox="1"/>
            <p:nvPr/>
          </p:nvSpPr>
          <p:spPr>
            <a:xfrm>
              <a:off x="9112589" y="4013343"/>
              <a:ext cx="8800000" cy="4121750"/>
            </a:xfrm>
            <a:prstGeom prst="rect">
              <a:avLst/>
            </a:prstGeom>
            <a:solidFill>
              <a:srgbClr val="FFFFFF"/>
            </a:solidFill>
          </p:spPr>
          <p:txBody>
            <a:bodyPr lIns="120000" tIns="120000" rIns="120000" bIns="120000" rtlCol="0" anchor="t"/>
            <a:lstStyle/>
            <a:p>
              <a:pPr algn="l"/>
              <a:r>
                <a:rPr lang="en-US" sz="2400" b="1">
                  <a:solidFill>
                    <a:srgbClr val="00A8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db.py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— DB connection factory</a:t>
              </a:r>
            </a:p>
            <a:p>
              <a:pPr algn="l"/>
              <a:r>
                <a:rPr lang="en-US" sz="2400" b="1">
                  <a:solidFill>
                    <a:srgbClr val="00A8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styles.py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— Shared </a:t>
              </a:r>
              <a:r>
                <a:rPr lang="en-US" sz="2400" err="1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colours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widgets</a:t>
              </a:r>
            </a:p>
            <a:p>
              <a:pPr algn="l"/>
              <a:r>
                <a:rPr lang="en-US" sz="2400" b="1">
                  <a:solidFill>
                    <a:srgbClr val="00A8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main.py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— Dashboard &amp; entry point</a:t>
              </a:r>
            </a:p>
            <a:p>
              <a:pPr algn="l"/>
              <a:r>
                <a:rPr lang="en-US" sz="2400" b="1">
                  <a:solidFill>
                    <a:srgbClr val="00A8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patients.py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— Patients CRUD</a:t>
              </a:r>
            </a:p>
            <a:p>
              <a:pPr algn="l"/>
              <a:r>
                <a:rPr lang="en-US" sz="2400" b="1">
                  <a:solidFill>
                    <a:srgbClr val="00A8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laboratorians.py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— Staff CRUD</a:t>
              </a:r>
            </a:p>
            <a:p>
              <a:pPr algn="l"/>
              <a:r>
                <a:rPr lang="en-US" sz="2400" b="1">
                  <a:solidFill>
                    <a:srgbClr val="00A8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components.py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— Inventory window</a:t>
              </a:r>
            </a:p>
            <a:p>
              <a:pPr algn="l"/>
              <a:r>
                <a:rPr lang="en-US" sz="2400" b="1">
                  <a:solidFill>
                    <a:srgbClr val="00A8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tests.py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— Medical test catalogue</a:t>
              </a:r>
            </a:p>
            <a:p>
              <a:pPr algn="l"/>
              <a:r>
                <a:rPr lang="en-US" sz="2400" b="1">
                  <a:solidFill>
                    <a:srgbClr val="00A8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results.py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— Test results CRUD</a:t>
              </a:r>
            </a:p>
            <a:p>
              <a:pPr algn="l"/>
              <a:r>
                <a:rPr lang="en-US" sz="2400" b="1">
                  <a:solidFill>
                    <a:srgbClr val="00A8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reports.py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— Analytical queries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18288000" cy="1798326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600000" y="196181"/>
            <a:ext cx="17000000" cy="14713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Times New Roman Bold"/>
              </a:rPr>
              <a:t>Dashboard &amp; Style Pages</a:t>
            </a:r>
          </a:p>
        </p:txBody>
      </p:sp>
      <p:sp>
        <p:nvSpPr>
          <p:cNvPr id="5" name="Hdr1"/>
          <p:cNvSpPr/>
          <p:nvPr/>
        </p:nvSpPr>
        <p:spPr>
          <a:xfrm>
            <a:off x="132346" y="2072448"/>
            <a:ext cx="17467654" cy="621240"/>
          </a:xfrm>
          <a:prstGeom prst="rect">
            <a:avLst/>
          </a:prstGeom>
          <a:solidFill>
            <a:srgbClr val="0D5C8A"/>
          </a:solidFill>
        </p:spPr>
        <p:txBody>
          <a:bodyPr lIns="100000" tIns="50000" rIns="0" bIns="0" rtlCol="0" anchor="ctr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Times New Roman Bold"/>
              </a:rPr>
              <a:t>Dashboard  (main.py)</a:t>
            </a:r>
          </a:p>
        </p:txBody>
      </p:sp>
      <p:sp>
        <p:nvSpPr>
          <p:cNvPr id="6" name="DashContent"/>
          <p:cNvSpPr txBox="1"/>
          <p:nvPr/>
        </p:nvSpPr>
        <p:spPr>
          <a:xfrm>
            <a:off x="132348" y="2759083"/>
            <a:ext cx="17467654" cy="1076318"/>
          </a:xfrm>
          <a:prstGeom prst="rect">
            <a:avLst/>
          </a:prstGeom>
          <a:solidFill>
            <a:srgbClr val="FFFFFF"/>
          </a:solidFill>
        </p:spPr>
        <p:txBody>
          <a:bodyPr lIns="120000" tIns="100000" rIns="120000" bIns="0" rtlCol="0" anchor="t"/>
          <a:lstStyle/>
          <a:p>
            <a:pPr algn="l"/>
            <a:r>
              <a:rPr lang="en-US" sz="2400">
                <a:solidFill>
                  <a:srgbClr val="1A1A2E"/>
                </a:solidFill>
                <a:latin typeface="Times New Roman"/>
              </a:rPr>
              <a:t>Entry point — </a:t>
            </a:r>
            <a:r>
              <a:rPr lang="en-US" sz="2400" err="1">
                <a:solidFill>
                  <a:srgbClr val="1A1A2E"/>
                </a:solidFill>
                <a:latin typeface="Times New Roman"/>
              </a:rPr>
              <a:t>maximised</a:t>
            </a:r>
            <a:r>
              <a:rPr lang="en-US" sz="2400">
                <a:solidFill>
                  <a:srgbClr val="1A1A2E"/>
                </a:solidFill>
                <a:latin typeface="Times New Roman"/>
              </a:rPr>
              <a:t> Tk window with a 2×3 tile grid. Each tile (Patients, Laboratorians, Components, Medical Tests, Test Results, Reports) opens the matching module window. Hover effects highlight tiles on mouse-over without any extra library.</a:t>
            </a:r>
          </a:p>
        </p:txBody>
      </p:sp>
      <p:sp>
        <p:nvSpPr>
          <p:cNvPr id="19" name="LeftHdr">
            <a:extLst>
              <a:ext uri="{FF2B5EF4-FFF2-40B4-BE49-F238E27FC236}">
                <a16:creationId xmlns:a16="http://schemas.microsoft.com/office/drawing/2014/main" id="{E695FE98-9EE6-713F-D762-8638AA356A86}"/>
              </a:ext>
            </a:extLst>
          </p:cNvPr>
          <p:cNvSpPr/>
          <p:nvPr/>
        </p:nvSpPr>
        <p:spPr>
          <a:xfrm>
            <a:off x="132346" y="4214091"/>
            <a:ext cx="17467654" cy="614418"/>
          </a:xfrm>
          <a:prstGeom prst="rect">
            <a:avLst/>
          </a:prstGeom>
          <a:solidFill>
            <a:srgbClr val="0D5C8A"/>
          </a:solidFill>
        </p:spPr>
        <p:txBody>
          <a:bodyPr lIns="100000" tIns="50000" rIns="0" bIns="0" rtlCol="0" anchor="ctr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Times New Roman Bold"/>
              </a:rPr>
              <a:t>styles.py — Visual Consistency</a:t>
            </a:r>
          </a:p>
        </p:txBody>
      </p:sp>
      <p:sp>
        <p:nvSpPr>
          <p:cNvPr id="20" name="LeftContent">
            <a:extLst>
              <a:ext uri="{FF2B5EF4-FFF2-40B4-BE49-F238E27FC236}">
                <a16:creationId xmlns:a16="http://schemas.microsoft.com/office/drawing/2014/main" id="{480F25DB-490D-9A65-1096-9EF19BB24EA1}"/>
              </a:ext>
            </a:extLst>
          </p:cNvPr>
          <p:cNvSpPr txBox="1"/>
          <p:nvPr/>
        </p:nvSpPr>
        <p:spPr>
          <a:xfrm>
            <a:off x="132346" y="4828507"/>
            <a:ext cx="17467654" cy="5053584"/>
          </a:xfrm>
          <a:prstGeom prst="rect">
            <a:avLst/>
          </a:prstGeom>
          <a:solidFill>
            <a:srgbClr val="FFFFFF"/>
          </a:solidFill>
        </p:spPr>
        <p:txBody>
          <a:bodyPr lIns="120000" tIns="120000" rIns="120000" bIns="120000" rtlCol="0" anchor="t"/>
          <a:lstStyle/>
          <a:p>
            <a:pPr algn="l"/>
            <a:r>
              <a:rPr lang="en-US" sz="2400" b="1" err="1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en-US" sz="2400" b="1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palette (7 constants)</a:t>
            </a:r>
          </a:p>
          <a:p>
            <a:pPr algn="l"/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NAVY #1b2a4a (headers), BLUE #3d5a99 (buttons), ACCENT #5b8dee (highlights), WHITE / BG / SUBTEXT</a:t>
            </a:r>
          </a:p>
          <a:p>
            <a:pPr algn="l"/>
            <a:endParaRPr lang="en-US" sz="2400">
              <a:solidFill>
                <a:srgbClr val="1A1A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b="1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reusable builder functions:</a:t>
            </a:r>
          </a:p>
          <a:p>
            <a:pPr algn="l">
              <a:lnSpc>
                <a:spcPct val="150000"/>
              </a:lnSpc>
            </a:pPr>
            <a:r>
              <a:rPr lang="en-US" sz="2400" b="1" err="1">
                <a:solidFill>
                  <a:srgbClr val="00A8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apply_treeview_style</a:t>
            </a:r>
            <a:r>
              <a:rPr lang="en-US" sz="2400" b="1">
                <a:solidFill>
                  <a:srgbClr val="00A8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Sets </a:t>
            </a:r>
            <a:r>
              <a:rPr lang="en-US" sz="240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ttk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theme, row </a:t>
            </a:r>
            <a:r>
              <a:rPr lang="en-US" sz="240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colours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heading style</a:t>
            </a:r>
          </a:p>
          <a:p>
            <a:pPr algn="l">
              <a:lnSpc>
                <a:spcPct val="150000"/>
              </a:lnSpc>
            </a:pPr>
            <a:r>
              <a:rPr lang="en-US" sz="2400" b="1" err="1">
                <a:solidFill>
                  <a:srgbClr val="00A8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page_header</a:t>
            </a:r>
            <a:r>
              <a:rPr lang="en-US" sz="2400" b="1">
                <a:solidFill>
                  <a:srgbClr val="00A8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Dark navy banner with icon + title</a:t>
            </a:r>
          </a:p>
          <a:p>
            <a:pPr algn="l">
              <a:lnSpc>
                <a:spcPct val="150000"/>
              </a:lnSpc>
            </a:pPr>
            <a:r>
              <a:rPr lang="en-US" sz="2400" b="1" err="1">
                <a:solidFill>
                  <a:srgbClr val="00A8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make_form</a:t>
            </a:r>
            <a:r>
              <a:rPr lang="en-US" sz="2400" b="1">
                <a:solidFill>
                  <a:srgbClr val="00A8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2-column label/entry grid in white card</a:t>
            </a:r>
          </a:p>
          <a:p>
            <a:pPr algn="l">
              <a:lnSpc>
                <a:spcPct val="150000"/>
              </a:lnSpc>
            </a:pPr>
            <a:r>
              <a:rPr lang="en-US" sz="2400" b="1" err="1">
                <a:solidFill>
                  <a:srgbClr val="00A8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make_buttons</a:t>
            </a:r>
            <a:r>
              <a:rPr lang="en-US" sz="2400" b="1">
                <a:solidFill>
                  <a:srgbClr val="00A8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Horizontal styled button row</a:t>
            </a:r>
          </a:p>
          <a:p>
            <a:pPr algn="l">
              <a:lnSpc>
                <a:spcPct val="150000"/>
              </a:lnSpc>
            </a:pPr>
            <a:r>
              <a:rPr lang="en-US" sz="2400" b="1" err="1">
                <a:solidFill>
                  <a:srgbClr val="00A8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make_tree</a:t>
            </a:r>
            <a:r>
              <a:rPr lang="en-US" sz="2400" b="1">
                <a:solidFill>
                  <a:srgbClr val="00A8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ttk.Treeview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vertical scrollbar</a:t>
            </a:r>
          </a:p>
          <a:p>
            <a:pPr algn="l">
              <a:lnSpc>
                <a:spcPct val="150000"/>
              </a:lnSpc>
            </a:pPr>
            <a:r>
              <a:rPr lang="en-US" sz="2400" i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Changing a </a:t>
            </a:r>
            <a:r>
              <a:rPr lang="en-US" sz="2400" i="1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en-US" sz="2400" i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font in styles.py propagates to all pages automatically.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l1Hdr">
            <a:extLst>
              <a:ext uri="{FF2B5EF4-FFF2-40B4-BE49-F238E27FC236}">
                <a16:creationId xmlns:a16="http://schemas.microsoft.com/office/drawing/2014/main" id="{7CE4A984-9560-3E76-751C-E6F074A66AE9}"/>
              </a:ext>
            </a:extLst>
          </p:cNvPr>
          <p:cNvSpPr/>
          <p:nvPr/>
        </p:nvSpPr>
        <p:spPr>
          <a:xfrm>
            <a:off x="262728" y="2682043"/>
            <a:ext cx="5486007" cy="950753"/>
          </a:xfrm>
          <a:prstGeom prst="rect">
            <a:avLst/>
          </a:prstGeom>
          <a:solidFill>
            <a:srgbClr val="0D5C8A"/>
          </a:solidFill>
        </p:spPr>
        <p:txBody>
          <a:bodyPr lIns="80000" tIns="40000" rIns="0" bIns="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Times New Roman Bold"/>
              </a:rPr>
              <a:t>Page Structure</a:t>
            </a:r>
          </a:p>
        </p:txBody>
      </p:sp>
      <p:sp>
        <p:nvSpPr>
          <p:cNvPr id="4" name="Col1Body">
            <a:extLst>
              <a:ext uri="{FF2B5EF4-FFF2-40B4-BE49-F238E27FC236}">
                <a16:creationId xmlns:a16="http://schemas.microsoft.com/office/drawing/2014/main" id="{9B224ACA-C5C0-8815-3D96-C7E4AC7AA9DC}"/>
              </a:ext>
            </a:extLst>
          </p:cNvPr>
          <p:cNvSpPr txBox="1"/>
          <p:nvPr/>
        </p:nvSpPr>
        <p:spPr>
          <a:xfrm>
            <a:off x="262728" y="3745336"/>
            <a:ext cx="5710596" cy="4103264"/>
          </a:xfrm>
          <a:prstGeom prst="rect">
            <a:avLst/>
          </a:prstGeom>
          <a:solidFill>
            <a:srgbClr val="FFFFFF"/>
          </a:solidFill>
        </p:spPr>
        <p:txBody>
          <a:bodyPr lIns="100000" tIns="100000" rIns="100000" bIns="100000" rtlCol="0" anchor="t"/>
          <a:lstStyle/>
          <a:p>
            <a:pPr algn="l">
              <a:lnSpc>
                <a:spcPct val="150000"/>
              </a:lnSpc>
            </a:pPr>
            <a:r>
              <a:rPr lang="en-US" sz="2400" b="1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Toplevel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window (dashboard stays open)</a:t>
            </a:r>
          </a:p>
          <a:p>
            <a:pPr algn="l">
              <a:lnSpc>
                <a:spcPct val="150000"/>
              </a:lnSpc>
            </a:pPr>
            <a:r>
              <a:rPr lang="en-US" sz="2400" b="1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page_header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renders banner</a:t>
            </a:r>
          </a:p>
          <a:p>
            <a:pPr algn="l">
              <a:lnSpc>
                <a:spcPct val="150000"/>
              </a:lnSpc>
            </a:pPr>
            <a:r>
              <a:rPr lang="en-US" sz="2400" b="1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make_form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builds input fields</a:t>
            </a:r>
          </a:p>
          <a:p>
            <a:pPr algn="l">
              <a:lnSpc>
                <a:spcPct val="150000"/>
              </a:lnSpc>
            </a:pPr>
            <a:r>
              <a:rPr lang="en-US" sz="2400" b="1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make_tree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builds data table</a:t>
            </a:r>
          </a:p>
          <a:p>
            <a:pPr algn="l">
              <a:lnSpc>
                <a:spcPct val="150000"/>
              </a:lnSpc>
            </a:pPr>
            <a:r>
              <a:rPr lang="en-US" sz="2400" b="1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load() / add() / delete() functions</a:t>
            </a:r>
          </a:p>
          <a:p>
            <a:pPr algn="l">
              <a:lnSpc>
                <a:spcPct val="150000"/>
              </a:lnSpc>
            </a:pPr>
            <a:r>
              <a:rPr lang="en-US" sz="2400" b="1">
                <a:solidFill>
                  <a:srgbClr val="0B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400" err="1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make_buttons</a:t>
            </a:r>
            <a:r>
              <a: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wires Add / Delete / Refresh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60C993-DC2A-0864-34F9-113B90ACA991}"/>
              </a:ext>
            </a:extLst>
          </p:cNvPr>
          <p:cNvGrpSpPr/>
          <p:nvPr/>
        </p:nvGrpSpPr>
        <p:grpSpPr>
          <a:xfrm>
            <a:off x="6197911" y="2682043"/>
            <a:ext cx="5518595" cy="5406187"/>
            <a:chOff x="5972979" y="1199762"/>
            <a:chExt cx="5518595" cy="5406187"/>
          </a:xfrm>
        </p:grpSpPr>
        <p:sp>
          <p:nvSpPr>
            <p:cNvPr id="5" name="Col2Hdr">
              <a:extLst>
                <a:ext uri="{FF2B5EF4-FFF2-40B4-BE49-F238E27FC236}">
                  <a16:creationId xmlns:a16="http://schemas.microsoft.com/office/drawing/2014/main" id="{0A21E5F9-AE40-E71C-CBDB-2D7664655A38}"/>
                </a:ext>
              </a:extLst>
            </p:cNvPr>
            <p:cNvSpPr/>
            <p:nvPr/>
          </p:nvSpPr>
          <p:spPr>
            <a:xfrm>
              <a:off x="5978870" y="1199762"/>
              <a:ext cx="5474908" cy="950753"/>
            </a:xfrm>
            <a:prstGeom prst="rect">
              <a:avLst/>
            </a:prstGeom>
            <a:solidFill>
              <a:srgbClr val="0D5C8A"/>
            </a:solidFill>
          </p:spPr>
          <p:txBody>
            <a:bodyPr lIns="80000" tIns="40000" rIns="0" bIns="0" rtlCol="0" anchor="ctr"/>
            <a:lstStyle/>
            <a:p>
              <a:pPr algn="ctr"/>
              <a:r>
                <a:rPr lang="en-US" sz="2800" b="1">
                  <a:solidFill>
                    <a:srgbClr val="FFFFFF"/>
                  </a:solidFill>
                  <a:latin typeface="Times New Roman Bold"/>
                </a:rPr>
                <a:t>3 Operations</a:t>
              </a:r>
            </a:p>
          </p:txBody>
        </p:sp>
        <p:sp>
          <p:nvSpPr>
            <p:cNvPr id="6" name="Col2Body">
              <a:extLst>
                <a:ext uri="{FF2B5EF4-FFF2-40B4-BE49-F238E27FC236}">
                  <a16:creationId xmlns:a16="http://schemas.microsoft.com/office/drawing/2014/main" id="{563EA801-4E41-64FD-1BD0-70832352AAF7}"/>
                </a:ext>
              </a:extLst>
            </p:cNvPr>
            <p:cNvSpPr txBox="1"/>
            <p:nvPr/>
          </p:nvSpPr>
          <p:spPr>
            <a:xfrm>
              <a:off x="5972979" y="2184112"/>
              <a:ext cx="5518595" cy="4421837"/>
            </a:xfrm>
            <a:prstGeom prst="rect">
              <a:avLst/>
            </a:prstGeom>
            <a:solidFill>
              <a:srgbClr val="FFFFFF"/>
            </a:solidFill>
          </p:spPr>
          <p:txBody>
            <a:bodyPr lIns="100000" tIns="100000" rIns="100000" bIns="100000" rtlCol="0" anchor="t"/>
            <a:lstStyle/>
            <a:p>
              <a:pPr algn="l"/>
              <a:r>
                <a:rPr lang="en-US" sz="2400" b="1">
                  <a:solidFill>
                    <a:srgbClr val="0D5C8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load()</a:t>
              </a:r>
            </a:p>
            <a:p>
              <a:pPr algn="l"/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Clears tree, runs SELECT, inserts rows with alternating </a:t>
              </a:r>
              <a:r>
                <a:rPr lang="en-US" sz="2400" err="1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colours</a:t>
              </a:r>
              <a:endPara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endPara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2400" b="1">
                  <a:solidFill>
                    <a:srgbClr val="0D5C8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add()</a:t>
              </a:r>
            </a:p>
            <a:p>
              <a:pPr algn="l"/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Validates fields, runs INSERT, commits, refreshes</a:t>
              </a:r>
            </a:p>
            <a:p>
              <a:pPr algn="l"/>
              <a:endParaRPr lang="en-US" sz="2400" b="1">
                <a:solidFill>
                  <a:srgbClr val="0D5C8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2400" b="1">
                  <a:solidFill>
                    <a:srgbClr val="0D5C8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delete()</a:t>
              </a:r>
            </a:p>
            <a:p>
              <a:pPr algn="l"/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Reads PK from selected row, runs DELETE, refreshes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93C4BD-311F-7571-CADB-02451ABF1532}"/>
              </a:ext>
            </a:extLst>
          </p:cNvPr>
          <p:cNvGrpSpPr/>
          <p:nvPr/>
        </p:nvGrpSpPr>
        <p:grpSpPr>
          <a:xfrm>
            <a:off x="12090094" y="2682043"/>
            <a:ext cx="5973322" cy="5485129"/>
            <a:chOff x="11722065" y="1277576"/>
            <a:chExt cx="5973322" cy="5485129"/>
          </a:xfrm>
        </p:grpSpPr>
        <p:sp>
          <p:nvSpPr>
            <p:cNvPr id="7" name="Col3Hdr">
              <a:extLst>
                <a:ext uri="{FF2B5EF4-FFF2-40B4-BE49-F238E27FC236}">
                  <a16:creationId xmlns:a16="http://schemas.microsoft.com/office/drawing/2014/main" id="{5463FD27-3741-C142-5494-72CC72381B82}"/>
                </a:ext>
              </a:extLst>
            </p:cNvPr>
            <p:cNvSpPr/>
            <p:nvPr/>
          </p:nvSpPr>
          <p:spPr>
            <a:xfrm>
              <a:off x="11722065" y="1277576"/>
              <a:ext cx="5877934" cy="950753"/>
            </a:xfrm>
            <a:prstGeom prst="rect">
              <a:avLst/>
            </a:prstGeom>
            <a:solidFill>
              <a:srgbClr val="0D5C8A"/>
            </a:solidFill>
          </p:spPr>
          <p:txBody>
            <a:bodyPr lIns="80000" tIns="40000" rIns="0" bIns="0" rtlCol="0" anchor="ctr"/>
            <a:lstStyle/>
            <a:p>
              <a:pPr algn="ctr"/>
              <a:r>
                <a:rPr lang="en-US" sz="2800" b="1">
                  <a:solidFill>
                    <a:srgbClr val="FFFFFF"/>
                  </a:solidFill>
                  <a:latin typeface="Times New Roman Bold"/>
                </a:rPr>
                <a:t>Notable Differences</a:t>
              </a:r>
            </a:p>
          </p:txBody>
        </p:sp>
        <p:sp>
          <p:nvSpPr>
            <p:cNvPr id="8" name="Col3Body">
              <a:extLst>
                <a:ext uri="{FF2B5EF4-FFF2-40B4-BE49-F238E27FC236}">
                  <a16:creationId xmlns:a16="http://schemas.microsoft.com/office/drawing/2014/main" id="{C8C96965-DC9F-4143-D57E-F925C65F73C0}"/>
                </a:ext>
              </a:extLst>
            </p:cNvPr>
            <p:cNvSpPr txBox="1"/>
            <p:nvPr/>
          </p:nvSpPr>
          <p:spPr>
            <a:xfrm>
              <a:off x="11722065" y="2340869"/>
              <a:ext cx="5973322" cy="4421836"/>
            </a:xfrm>
            <a:prstGeom prst="rect">
              <a:avLst/>
            </a:prstGeom>
            <a:solidFill>
              <a:srgbClr val="FFFFFF"/>
            </a:solidFill>
          </p:spPr>
          <p:txBody>
            <a:bodyPr lIns="100000" tIns="100000" rIns="100000" bIns="100000" rtlCol="0" anchor="t"/>
            <a:lstStyle/>
            <a:p>
              <a:pPr algn="l"/>
              <a:r>
                <a:rPr lang="en-US" sz="2400" b="1">
                  <a:solidFill>
                    <a:srgbClr val="0D5C8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patients / laboratorians.py</a:t>
              </a:r>
            </a:p>
            <a:p>
              <a:pPr algn="l"/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Phone in separate child table; DELETE removes phone first (FK constraint)</a:t>
              </a:r>
            </a:p>
            <a:p>
              <a:pPr algn="l"/>
              <a:endParaRPr lang="en-US" sz="240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2400" b="1">
                  <a:solidFill>
                    <a:srgbClr val="0D5C8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components.py</a:t>
              </a:r>
            </a:p>
            <a:p>
              <a:pPr algn="l"/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Rows where Available &lt; Minimum highlighted red</a:t>
              </a:r>
            </a:p>
            <a:p>
              <a:pPr algn="l"/>
              <a:endParaRPr lang="en-US" sz="2400">
                <a:solidFill>
                  <a:srgbClr val="0D5C8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2400" b="1">
                  <a:solidFill>
                    <a:srgbClr val="0D5C8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results.py</a:t>
              </a:r>
            </a:p>
            <a:p>
              <a:pPr algn="l"/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 shows all FK IDs (Lab, Patient, Test) in one view</a:t>
              </a:r>
            </a:p>
          </p:txBody>
        </p:sp>
      </p:grpSp>
      <p:sp>
        <p:nvSpPr>
          <p:cNvPr id="15" name="HeaderBar">
            <a:extLst>
              <a:ext uri="{FF2B5EF4-FFF2-40B4-BE49-F238E27FC236}">
                <a16:creationId xmlns:a16="http://schemas.microsoft.com/office/drawing/2014/main" id="{DBEF088E-C278-0CBC-E0F1-3458679E3ACE}"/>
              </a:ext>
            </a:extLst>
          </p:cNvPr>
          <p:cNvSpPr/>
          <p:nvPr/>
        </p:nvSpPr>
        <p:spPr>
          <a:xfrm>
            <a:off x="0" y="0"/>
            <a:ext cx="18288000" cy="1798326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FA00A-8264-2379-E384-10CE630B23F9}"/>
              </a:ext>
            </a:extLst>
          </p:cNvPr>
          <p:cNvSpPr txBox="1"/>
          <p:nvPr/>
        </p:nvSpPr>
        <p:spPr>
          <a:xfrm>
            <a:off x="262728" y="53227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Times New Roman Bold"/>
              </a:rPr>
              <a:t>CRUD Pages — Shared Pattern</a:t>
            </a:r>
          </a:p>
        </p:txBody>
      </p:sp>
    </p:spTree>
    <p:extLst>
      <p:ext uri="{BB962C8B-B14F-4D97-AF65-F5344CB8AC3E}">
        <p14:creationId xmlns:p14="http://schemas.microsoft.com/office/powerpoint/2010/main" val="988550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-1"/>
            <a:ext cx="18288000" cy="1702810"/>
          </a:xfrm>
          <a:prstGeom prst="rect">
            <a:avLst/>
          </a:prstGeom>
          <a:solidFill>
            <a:srgbClr val="0B1F3A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600000" y="185760"/>
            <a:ext cx="17000000" cy="13932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Times New Roman Bold"/>
              </a:rPr>
              <a:t>Shared Styles &amp; Reports Module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7CC9AAF-CA1F-1A6E-AF45-D8E9C4E1FA8A}"/>
              </a:ext>
            </a:extLst>
          </p:cNvPr>
          <p:cNvGrpSpPr/>
          <p:nvPr/>
        </p:nvGrpSpPr>
        <p:grpSpPr>
          <a:xfrm>
            <a:off x="450680" y="2549763"/>
            <a:ext cx="17386640" cy="5938917"/>
            <a:chOff x="9400000" y="2089811"/>
            <a:chExt cx="8200000" cy="5064969"/>
          </a:xfrm>
        </p:grpSpPr>
        <p:sp>
          <p:nvSpPr>
            <p:cNvPr id="7" name="RightHdr"/>
            <p:cNvSpPr/>
            <p:nvPr/>
          </p:nvSpPr>
          <p:spPr>
            <a:xfrm>
              <a:off x="9400000" y="2089811"/>
              <a:ext cx="8200000" cy="588243"/>
            </a:xfrm>
            <a:prstGeom prst="rect">
              <a:avLst/>
            </a:prstGeom>
            <a:solidFill>
              <a:srgbClr val="0D5C8A"/>
            </a:solidFill>
          </p:spPr>
          <p:txBody>
            <a:bodyPr lIns="100000" tIns="50000" rIns="0" bIns="0" rtlCol="0" anchor="ctr"/>
            <a:lstStyle/>
            <a:p>
              <a:pPr algn="l"/>
              <a:r>
                <a:rPr lang="en-US" sz="2800" b="1">
                  <a:solidFill>
                    <a:srgbClr val="FFFFFF"/>
                  </a:solidFill>
                  <a:latin typeface="Times New Roman Bold"/>
                </a:rPr>
                <a:t>reports.py — Analytical Queries</a:t>
              </a:r>
            </a:p>
          </p:txBody>
        </p:sp>
        <p:sp>
          <p:nvSpPr>
            <p:cNvPr id="8" name="RightContent"/>
            <p:cNvSpPr txBox="1"/>
            <p:nvPr/>
          </p:nvSpPr>
          <p:spPr>
            <a:xfrm>
              <a:off x="9400000" y="2755456"/>
              <a:ext cx="8200000" cy="4399324"/>
            </a:xfrm>
            <a:prstGeom prst="rect">
              <a:avLst/>
            </a:prstGeom>
            <a:solidFill>
              <a:srgbClr val="FFFFFF"/>
            </a:solidFill>
          </p:spPr>
          <p:txBody>
            <a:bodyPr lIns="120000" tIns="120000" rIns="120000" bIns="120000" rtlCol="0" anchor="t"/>
            <a:lstStyle/>
            <a:p>
              <a:pPr algn="l"/>
              <a:r>
                <a:rPr lang="en-US" sz="2400" b="1">
                  <a:solidFill>
                    <a:srgbClr val="0B1F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 pattern</a:t>
              </a:r>
            </a:p>
            <a:p>
              <a:pPr algn="l"/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  <a:r>
                <a:rPr lang="en-US" sz="2400" err="1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ttk.Treeview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with a generic Result column. Each query button calls run(</a:t>
              </a:r>
              <a:r>
                <a:rPr lang="en-US" sz="2400" err="1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fn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which dynamically rebuilds column headings from the query result tuple.</a:t>
              </a:r>
            </a:p>
            <a:p>
              <a:pPr algn="l"/>
              <a:r>
                <a:rPr lang="en-US" sz="2400" b="1">
                  <a:solidFill>
                    <a:srgbClr val="0B1F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 1 — Tests by Patient 12527</a:t>
              </a:r>
            </a:p>
            <a:p>
              <a:pPr algn="l"/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3-table JOIN (TEST_RESULT + MEDICAL_TEST + Laboratorian), filtered to </a:t>
              </a:r>
              <a:r>
                <a:rPr lang="en-US" sz="2400" err="1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Patient_ID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=12527 and </a:t>
              </a:r>
              <a:r>
                <a:rPr lang="en-US" sz="2400" err="1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TS_Date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within last 12 months. Returns: Test Name | Date | Laboratorian.</a:t>
              </a:r>
            </a:p>
            <a:p>
              <a:pPr algn="l"/>
              <a:r>
                <a:rPr lang="en-US" sz="2400" b="1">
                  <a:solidFill>
                    <a:srgbClr val="0B1F3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 2 — Low-Stock Alert</a:t>
              </a:r>
            </a:p>
            <a:p>
              <a:pPr algn="l"/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 from COMPONENT WHERE </a:t>
              </a:r>
              <a:r>
                <a:rPr lang="en-US" sz="2400" err="1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Available_quantity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</a:t>
              </a:r>
              <a:r>
                <a:rPr lang="en-US" sz="2400" err="1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Minimum_quantity</a:t>
              </a:r>
              <a:r>
                <a:rPr lang="en-US" sz="2400">
                  <a:solidFill>
                    <a:srgbClr val="1A1A2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Shows Component ID | Name | Available | Minimum for immediate restocking decisions.</a:t>
              </a:r>
            </a:p>
            <a:p>
              <a:pPr algn="l"/>
              <a:r>
                <a:rPr lang="en-US" sz="2400" i="1">
                  <a:solidFill>
                    <a:srgbClr val="55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Extensible: adding a new query only requires one data function + one button entry.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02336" cy="10287000"/>
            <a:chOff x="0" y="0"/>
            <a:chExt cx="53644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448" cy="13716000"/>
            </a:xfrm>
            <a:custGeom>
              <a:avLst/>
              <a:gdLst/>
              <a:ahLst/>
              <a:cxnLst/>
              <a:rect l="l" t="t" r="r" b="b"/>
              <a:pathLst>
                <a:path w="536448" h="13716000">
                  <a:moveTo>
                    <a:pt x="0" y="0"/>
                  </a:moveTo>
                  <a:lnTo>
                    <a:pt x="536448" y="0"/>
                  </a:lnTo>
                  <a:lnTo>
                    <a:pt x="53644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453390"/>
            <a:ext cx="16459200" cy="1463040"/>
            <a:chOff x="0" y="0"/>
            <a:chExt cx="21945600" cy="1950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950720"/>
            </a:xfrm>
            <a:custGeom>
              <a:avLst/>
              <a:gdLst/>
              <a:ahLst/>
              <a:cxnLst/>
              <a:rect l="l" t="t" r="r" b="b"/>
              <a:pathLst>
                <a:path w="21945600" h="195072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054" b="-16905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53378"/>
            <a:ext cx="16459200" cy="1563052"/>
            <a:chOff x="0" y="0"/>
            <a:chExt cx="21945600" cy="208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084070"/>
            </a:xfrm>
            <a:custGeom>
              <a:avLst/>
              <a:gdLst/>
              <a:ahLst/>
              <a:cxnLst/>
              <a:rect l="l" t="t" r="r" b="b"/>
              <a:pathLst>
                <a:path w="21945600" h="2084070">
                  <a:moveTo>
                    <a:pt x="0" y="0"/>
                  </a:moveTo>
                  <a:lnTo>
                    <a:pt x="21945600" y="0"/>
                  </a:lnTo>
                  <a:lnTo>
                    <a:pt x="21945600" y="2084070"/>
                  </a:lnTo>
                  <a:lnTo>
                    <a:pt x="0" y="20840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180" b="-155180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945600" cy="2122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58"/>
                </a:lnSpc>
              </a:pPr>
              <a:r>
                <a:rPr lang="en-US" sz="6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Summary &amp; Conclusion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1880806"/>
            <a:ext cx="12706845" cy="127063"/>
            <a:chOff x="0" y="0"/>
            <a:chExt cx="16942460" cy="1694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42436" cy="169418"/>
            </a:xfrm>
            <a:custGeom>
              <a:avLst/>
              <a:gdLst/>
              <a:ahLst/>
              <a:cxnLst/>
              <a:rect l="l" t="t" r="r" b="b"/>
              <a:pathLst>
                <a:path w="16942436" h="169418">
                  <a:moveTo>
                    <a:pt x="0" y="0"/>
                  </a:moveTo>
                  <a:lnTo>
                    <a:pt x="16942436" y="0"/>
                  </a:lnTo>
                  <a:lnTo>
                    <a:pt x="16942436" y="169418"/>
                  </a:lnTo>
                  <a:lnTo>
                    <a:pt x="0" y="169418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2535078"/>
            <a:ext cx="512064" cy="512064"/>
            <a:chOff x="0" y="0"/>
            <a:chExt cx="682752" cy="682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2535078"/>
            <a:ext cx="512064" cy="512064"/>
            <a:chOff x="0" y="0"/>
            <a:chExt cx="682752" cy="6827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" y="2499359"/>
            <a:ext cx="512064" cy="547783"/>
            <a:chOff x="0" y="0"/>
            <a:chExt cx="682752" cy="7303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2752" cy="730377"/>
            </a:xfrm>
            <a:custGeom>
              <a:avLst/>
              <a:gdLst/>
              <a:ahLst/>
              <a:cxnLst/>
              <a:rect l="l" t="t" r="r" b="b"/>
              <a:pathLst>
                <a:path w="682752" h="730377">
                  <a:moveTo>
                    <a:pt x="0" y="0"/>
                  </a:moveTo>
                  <a:lnTo>
                    <a:pt x="682752" y="0"/>
                  </a:lnTo>
                  <a:lnTo>
                    <a:pt x="682752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53" r="-8725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682752" cy="7494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B1F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45920" y="2388774"/>
            <a:ext cx="3840480" cy="804672"/>
            <a:chOff x="0" y="0"/>
            <a:chExt cx="5120640" cy="10728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20640" cy="1072896"/>
            </a:xfrm>
            <a:custGeom>
              <a:avLst/>
              <a:gdLst/>
              <a:ahLst/>
              <a:cxnLst/>
              <a:rect l="l" t="t" r="r" b="b"/>
              <a:pathLst>
                <a:path w="5120640" h="1072896">
                  <a:moveTo>
                    <a:pt x="0" y="0"/>
                  </a:moveTo>
                  <a:lnTo>
                    <a:pt x="5120640" y="0"/>
                  </a:lnTo>
                  <a:lnTo>
                    <a:pt x="51206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932" b="-4293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45920" y="2345912"/>
            <a:ext cx="3840480" cy="847535"/>
            <a:chOff x="0" y="0"/>
            <a:chExt cx="5120640" cy="113004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0640" cy="1130046"/>
            </a:xfrm>
            <a:custGeom>
              <a:avLst/>
              <a:gdLst/>
              <a:ahLst/>
              <a:cxnLst/>
              <a:rect l="l" t="t" r="r" b="b"/>
              <a:pathLst>
                <a:path w="5120640" h="1130046">
                  <a:moveTo>
                    <a:pt x="0" y="0"/>
                  </a:moveTo>
                  <a:lnTo>
                    <a:pt x="5120640" y="0"/>
                  </a:lnTo>
                  <a:lnTo>
                    <a:pt x="5120640" y="1130046"/>
                  </a:lnTo>
                  <a:lnTo>
                    <a:pt x="0" y="1130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293" b="-3829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5120640" cy="1149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A8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Conceptual Design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69280" y="2388774"/>
            <a:ext cx="12070080" cy="804672"/>
            <a:chOff x="0" y="0"/>
            <a:chExt cx="16093440" cy="10728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093439" cy="1072896"/>
            </a:xfrm>
            <a:custGeom>
              <a:avLst/>
              <a:gdLst/>
              <a:ahLst/>
              <a:cxnLst/>
              <a:rect l="l" t="t" r="r" b="b"/>
              <a:pathLst>
                <a:path w="16093439" h="1072896">
                  <a:moveTo>
                    <a:pt x="0" y="0"/>
                  </a:moveTo>
                  <a:lnTo>
                    <a:pt x="16093439" y="0"/>
                  </a:lnTo>
                  <a:lnTo>
                    <a:pt x="160934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072" b="-24207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669280" y="2360199"/>
            <a:ext cx="12070080" cy="833247"/>
            <a:chOff x="0" y="0"/>
            <a:chExt cx="16093440" cy="11109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093439" cy="1110996"/>
            </a:xfrm>
            <a:custGeom>
              <a:avLst/>
              <a:gdLst/>
              <a:ahLst/>
              <a:cxnLst/>
              <a:rect l="l" t="t" r="r" b="b"/>
              <a:pathLst>
                <a:path w="16093439" h="1110996">
                  <a:moveTo>
                    <a:pt x="0" y="0"/>
                  </a:moveTo>
                  <a:lnTo>
                    <a:pt x="16093439" y="0"/>
                  </a:lnTo>
                  <a:lnTo>
                    <a:pt x="16093439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252" b="-23225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6093440" cy="11205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8E6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Full ER diagram with 8 entities, composite keys, and multivalued attributes correctly modeled.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3888390"/>
            <a:ext cx="512064" cy="512064"/>
            <a:chOff x="0" y="0"/>
            <a:chExt cx="682752" cy="682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3888390"/>
            <a:ext cx="512064" cy="512064"/>
            <a:chOff x="0" y="0"/>
            <a:chExt cx="682752" cy="6827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4400" y="3852671"/>
            <a:ext cx="512064" cy="547783"/>
            <a:chOff x="0" y="0"/>
            <a:chExt cx="682752" cy="73037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82752" cy="730377"/>
            </a:xfrm>
            <a:custGeom>
              <a:avLst/>
              <a:gdLst/>
              <a:ahLst/>
              <a:cxnLst/>
              <a:rect l="l" t="t" r="r" b="b"/>
              <a:pathLst>
                <a:path w="682752" h="730377">
                  <a:moveTo>
                    <a:pt x="0" y="0"/>
                  </a:moveTo>
                  <a:lnTo>
                    <a:pt x="682752" y="0"/>
                  </a:lnTo>
                  <a:lnTo>
                    <a:pt x="682752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53" r="-8725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682752" cy="7494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B1F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45920" y="3742086"/>
            <a:ext cx="3840480" cy="804672"/>
            <a:chOff x="0" y="0"/>
            <a:chExt cx="5120640" cy="10728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120640" cy="1072896"/>
            </a:xfrm>
            <a:custGeom>
              <a:avLst/>
              <a:gdLst/>
              <a:ahLst/>
              <a:cxnLst/>
              <a:rect l="l" t="t" r="r" b="b"/>
              <a:pathLst>
                <a:path w="5120640" h="1072896">
                  <a:moveTo>
                    <a:pt x="0" y="0"/>
                  </a:moveTo>
                  <a:lnTo>
                    <a:pt x="5120640" y="0"/>
                  </a:lnTo>
                  <a:lnTo>
                    <a:pt x="51206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932" b="-4293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45920" y="3699224"/>
            <a:ext cx="3840480" cy="847535"/>
            <a:chOff x="0" y="0"/>
            <a:chExt cx="5120640" cy="113004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20640" cy="1130046"/>
            </a:xfrm>
            <a:custGeom>
              <a:avLst/>
              <a:gdLst/>
              <a:ahLst/>
              <a:cxnLst/>
              <a:rect l="l" t="t" r="r" b="b"/>
              <a:pathLst>
                <a:path w="5120640" h="1130046">
                  <a:moveTo>
                    <a:pt x="0" y="0"/>
                  </a:moveTo>
                  <a:lnTo>
                    <a:pt x="5120640" y="0"/>
                  </a:lnTo>
                  <a:lnTo>
                    <a:pt x="5120640" y="1130046"/>
                  </a:lnTo>
                  <a:lnTo>
                    <a:pt x="0" y="1130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293" b="-3829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5120640" cy="1149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A8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Relational Schema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69280" y="3742086"/>
            <a:ext cx="12070080" cy="804672"/>
            <a:chOff x="0" y="0"/>
            <a:chExt cx="16093440" cy="107289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6093439" cy="1072896"/>
            </a:xfrm>
            <a:custGeom>
              <a:avLst/>
              <a:gdLst/>
              <a:ahLst/>
              <a:cxnLst/>
              <a:rect l="l" t="t" r="r" b="b"/>
              <a:pathLst>
                <a:path w="16093439" h="1072896">
                  <a:moveTo>
                    <a:pt x="0" y="0"/>
                  </a:moveTo>
                  <a:lnTo>
                    <a:pt x="16093439" y="0"/>
                  </a:lnTo>
                  <a:lnTo>
                    <a:pt x="160934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072" b="-24207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69280" y="3713511"/>
            <a:ext cx="12070080" cy="833247"/>
            <a:chOff x="0" y="0"/>
            <a:chExt cx="16093440" cy="111099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093439" cy="1110996"/>
            </a:xfrm>
            <a:custGeom>
              <a:avLst/>
              <a:gdLst/>
              <a:ahLst/>
              <a:cxnLst/>
              <a:rect l="l" t="t" r="r" b="b"/>
              <a:pathLst>
                <a:path w="16093439" h="1110996">
                  <a:moveTo>
                    <a:pt x="0" y="0"/>
                  </a:moveTo>
                  <a:lnTo>
                    <a:pt x="16093439" y="0"/>
                  </a:lnTo>
                  <a:lnTo>
                    <a:pt x="16093439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252" b="-23225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16093440" cy="11205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8E6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 tables normalized; foreign keys with appropriate ON DELETE / ON UPDATE rules.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14400" y="5228366"/>
            <a:ext cx="512064" cy="512064"/>
            <a:chOff x="0" y="0"/>
            <a:chExt cx="682752" cy="68275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14400" y="5228366"/>
            <a:ext cx="512064" cy="512064"/>
            <a:chOff x="0" y="0"/>
            <a:chExt cx="682752" cy="68275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14400" y="5228366"/>
            <a:ext cx="512064" cy="547783"/>
            <a:chOff x="0" y="0"/>
            <a:chExt cx="682752" cy="73037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82752" cy="730377"/>
            </a:xfrm>
            <a:custGeom>
              <a:avLst/>
              <a:gdLst/>
              <a:ahLst/>
              <a:cxnLst/>
              <a:rect l="l" t="t" r="r" b="b"/>
              <a:pathLst>
                <a:path w="682752" h="730377">
                  <a:moveTo>
                    <a:pt x="0" y="0"/>
                  </a:moveTo>
                  <a:lnTo>
                    <a:pt x="682752" y="0"/>
                  </a:lnTo>
                  <a:lnTo>
                    <a:pt x="682752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53" r="-8725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82752" cy="7494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B1F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645920" y="5082062"/>
            <a:ext cx="3840480" cy="804672"/>
            <a:chOff x="0" y="0"/>
            <a:chExt cx="5120640" cy="107289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120640" cy="1072896"/>
            </a:xfrm>
            <a:custGeom>
              <a:avLst/>
              <a:gdLst/>
              <a:ahLst/>
              <a:cxnLst/>
              <a:rect l="l" t="t" r="r" b="b"/>
              <a:pathLst>
                <a:path w="5120640" h="1072896">
                  <a:moveTo>
                    <a:pt x="0" y="0"/>
                  </a:moveTo>
                  <a:lnTo>
                    <a:pt x="5120640" y="0"/>
                  </a:lnTo>
                  <a:lnTo>
                    <a:pt x="51206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932" b="-4293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645920" y="5039200"/>
            <a:ext cx="3840480" cy="847535"/>
            <a:chOff x="0" y="0"/>
            <a:chExt cx="5120640" cy="113004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120640" cy="1130046"/>
            </a:xfrm>
            <a:custGeom>
              <a:avLst/>
              <a:gdLst/>
              <a:ahLst/>
              <a:cxnLst/>
              <a:rect l="l" t="t" r="r" b="b"/>
              <a:pathLst>
                <a:path w="5120640" h="1130046">
                  <a:moveTo>
                    <a:pt x="0" y="0"/>
                  </a:moveTo>
                  <a:lnTo>
                    <a:pt x="5120640" y="0"/>
                  </a:lnTo>
                  <a:lnTo>
                    <a:pt x="5120640" y="1130046"/>
                  </a:lnTo>
                  <a:lnTo>
                    <a:pt x="0" y="1130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293" b="-3829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5120640" cy="1149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A8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Trigger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69280" y="5082062"/>
            <a:ext cx="12070080" cy="804672"/>
            <a:chOff x="0" y="0"/>
            <a:chExt cx="16093440" cy="107289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6093439" cy="1072896"/>
            </a:xfrm>
            <a:custGeom>
              <a:avLst/>
              <a:gdLst/>
              <a:ahLst/>
              <a:cxnLst/>
              <a:rect l="l" t="t" r="r" b="b"/>
              <a:pathLst>
                <a:path w="16093439" h="1072896">
                  <a:moveTo>
                    <a:pt x="0" y="0"/>
                  </a:moveTo>
                  <a:lnTo>
                    <a:pt x="16093439" y="0"/>
                  </a:lnTo>
                  <a:lnTo>
                    <a:pt x="160934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072" b="-24207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69280" y="5053487"/>
            <a:ext cx="12070080" cy="833247"/>
            <a:chOff x="0" y="0"/>
            <a:chExt cx="16093440" cy="11109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6093439" cy="1110996"/>
            </a:xfrm>
            <a:custGeom>
              <a:avLst/>
              <a:gdLst/>
              <a:ahLst/>
              <a:cxnLst/>
              <a:rect l="l" t="t" r="r" b="b"/>
              <a:pathLst>
                <a:path w="16093439" h="1110996">
                  <a:moveTo>
                    <a:pt x="0" y="0"/>
                  </a:moveTo>
                  <a:lnTo>
                    <a:pt x="16093439" y="0"/>
                  </a:lnTo>
                  <a:lnTo>
                    <a:pt x="16093439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252" b="-23225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16093440" cy="11205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8E6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AFTER INSERT trigger auto-decrements component stock via ASSOCIATION join.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14400" y="6550221"/>
            <a:ext cx="512064" cy="512064"/>
            <a:chOff x="0" y="0"/>
            <a:chExt cx="682752" cy="68275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14400" y="6550221"/>
            <a:ext cx="512064" cy="512064"/>
            <a:chOff x="0" y="0"/>
            <a:chExt cx="682752" cy="68275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14400" y="6514502"/>
            <a:ext cx="512064" cy="547783"/>
            <a:chOff x="0" y="0"/>
            <a:chExt cx="682752" cy="730377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82752" cy="730377"/>
            </a:xfrm>
            <a:custGeom>
              <a:avLst/>
              <a:gdLst/>
              <a:ahLst/>
              <a:cxnLst/>
              <a:rect l="l" t="t" r="r" b="b"/>
              <a:pathLst>
                <a:path w="682752" h="730377">
                  <a:moveTo>
                    <a:pt x="0" y="0"/>
                  </a:moveTo>
                  <a:lnTo>
                    <a:pt x="682752" y="0"/>
                  </a:lnTo>
                  <a:lnTo>
                    <a:pt x="682752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53" r="-8725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682752" cy="7494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B1F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645920" y="6403917"/>
            <a:ext cx="3840480" cy="804672"/>
            <a:chOff x="0" y="0"/>
            <a:chExt cx="5120640" cy="107289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120640" cy="1072896"/>
            </a:xfrm>
            <a:custGeom>
              <a:avLst/>
              <a:gdLst/>
              <a:ahLst/>
              <a:cxnLst/>
              <a:rect l="l" t="t" r="r" b="b"/>
              <a:pathLst>
                <a:path w="5120640" h="1072896">
                  <a:moveTo>
                    <a:pt x="0" y="0"/>
                  </a:moveTo>
                  <a:lnTo>
                    <a:pt x="5120640" y="0"/>
                  </a:lnTo>
                  <a:lnTo>
                    <a:pt x="51206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932" b="-4293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645920" y="6361055"/>
            <a:ext cx="3840480" cy="847535"/>
            <a:chOff x="0" y="0"/>
            <a:chExt cx="5120640" cy="113004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120640" cy="1130046"/>
            </a:xfrm>
            <a:custGeom>
              <a:avLst/>
              <a:gdLst/>
              <a:ahLst/>
              <a:cxnLst/>
              <a:rect l="l" t="t" r="r" b="b"/>
              <a:pathLst>
                <a:path w="5120640" h="1130046">
                  <a:moveTo>
                    <a:pt x="0" y="0"/>
                  </a:moveTo>
                  <a:lnTo>
                    <a:pt x="5120640" y="0"/>
                  </a:lnTo>
                  <a:lnTo>
                    <a:pt x="5120640" y="1130046"/>
                  </a:lnTo>
                  <a:lnTo>
                    <a:pt x="0" y="1130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293" b="-3829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5120640" cy="1149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A8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Query (Q2)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69280" y="6403917"/>
            <a:ext cx="12070080" cy="804672"/>
            <a:chOff x="0" y="0"/>
            <a:chExt cx="16093440" cy="107289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6093439" cy="1072896"/>
            </a:xfrm>
            <a:custGeom>
              <a:avLst/>
              <a:gdLst/>
              <a:ahLst/>
              <a:cxnLst/>
              <a:rect l="l" t="t" r="r" b="b"/>
              <a:pathLst>
                <a:path w="16093439" h="1072896">
                  <a:moveTo>
                    <a:pt x="0" y="0"/>
                  </a:moveTo>
                  <a:lnTo>
                    <a:pt x="16093439" y="0"/>
                  </a:lnTo>
                  <a:lnTo>
                    <a:pt x="160934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072" b="-24207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669280" y="6375342"/>
            <a:ext cx="12070080" cy="833247"/>
            <a:chOff x="0" y="0"/>
            <a:chExt cx="16093440" cy="111099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6093439" cy="1110996"/>
            </a:xfrm>
            <a:custGeom>
              <a:avLst/>
              <a:gdLst/>
              <a:ahLst/>
              <a:cxnLst/>
              <a:rect l="l" t="t" r="r" b="b"/>
              <a:pathLst>
                <a:path w="16093439" h="1110996">
                  <a:moveTo>
                    <a:pt x="0" y="0"/>
                  </a:moveTo>
                  <a:lnTo>
                    <a:pt x="16093439" y="0"/>
                  </a:lnTo>
                  <a:lnTo>
                    <a:pt x="16093439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252" b="-23225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16093440" cy="11205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8E6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3-table JOIN with date filter retrieves patient history including laboratorian info.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14400" y="7810118"/>
            <a:ext cx="512064" cy="512064"/>
            <a:chOff x="0" y="0"/>
            <a:chExt cx="682752" cy="68275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781"/>
                    <a:pt x="682752" y="341376"/>
                  </a:cubicBezTo>
                  <a:cubicBezTo>
                    <a:pt x="682752" y="529971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14400" y="7810118"/>
            <a:ext cx="512064" cy="512064"/>
            <a:chOff x="0" y="0"/>
            <a:chExt cx="682752" cy="682752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14400" y="7774399"/>
            <a:ext cx="512064" cy="547783"/>
            <a:chOff x="0" y="0"/>
            <a:chExt cx="682752" cy="730377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82752" cy="730377"/>
            </a:xfrm>
            <a:custGeom>
              <a:avLst/>
              <a:gdLst/>
              <a:ahLst/>
              <a:cxnLst/>
              <a:rect l="l" t="t" r="r" b="b"/>
              <a:pathLst>
                <a:path w="682752" h="730377">
                  <a:moveTo>
                    <a:pt x="0" y="0"/>
                  </a:moveTo>
                  <a:lnTo>
                    <a:pt x="682752" y="0"/>
                  </a:lnTo>
                  <a:lnTo>
                    <a:pt x="682752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53" r="-8725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682752" cy="7494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B1F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645920" y="7663814"/>
            <a:ext cx="3840480" cy="804672"/>
            <a:chOff x="0" y="0"/>
            <a:chExt cx="5120640" cy="107289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120640" cy="1072896"/>
            </a:xfrm>
            <a:custGeom>
              <a:avLst/>
              <a:gdLst/>
              <a:ahLst/>
              <a:cxnLst/>
              <a:rect l="l" t="t" r="r" b="b"/>
              <a:pathLst>
                <a:path w="5120640" h="1072896">
                  <a:moveTo>
                    <a:pt x="0" y="0"/>
                  </a:moveTo>
                  <a:lnTo>
                    <a:pt x="5120640" y="0"/>
                  </a:lnTo>
                  <a:lnTo>
                    <a:pt x="51206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932" b="-4293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645920" y="7620951"/>
            <a:ext cx="3840480" cy="847535"/>
            <a:chOff x="0" y="0"/>
            <a:chExt cx="5120640" cy="113004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5120640" cy="1130046"/>
            </a:xfrm>
            <a:custGeom>
              <a:avLst/>
              <a:gdLst/>
              <a:ahLst/>
              <a:cxnLst/>
              <a:rect l="l" t="t" r="r" b="b"/>
              <a:pathLst>
                <a:path w="5120640" h="1130046">
                  <a:moveTo>
                    <a:pt x="0" y="0"/>
                  </a:moveTo>
                  <a:lnTo>
                    <a:pt x="5120640" y="0"/>
                  </a:lnTo>
                  <a:lnTo>
                    <a:pt x="5120640" y="1130046"/>
                  </a:lnTo>
                  <a:lnTo>
                    <a:pt x="0" y="1130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293" b="-3829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19050"/>
              <a:ext cx="5120640" cy="1149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0A8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Index (Q3)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69280" y="7663814"/>
            <a:ext cx="12070080" cy="804672"/>
            <a:chOff x="0" y="0"/>
            <a:chExt cx="16093440" cy="107289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6093439" cy="1072896"/>
            </a:xfrm>
            <a:custGeom>
              <a:avLst/>
              <a:gdLst/>
              <a:ahLst/>
              <a:cxnLst/>
              <a:rect l="l" t="t" r="r" b="b"/>
              <a:pathLst>
                <a:path w="16093439" h="1072896">
                  <a:moveTo>
                    <a:pt x="0" y="0"/>
                  </a:moveTo>
                  <a:lnTo>
                    <a:pt x="16093439" y="0"/>
                  </a:lnTo>
                  <a:lnTo>
                    <a:pt x="160934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072" b="-24207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669280" y="7635239"/>
            <a:ext cx="12070080" cy="833247"/>
            <a:chOff x="0" y="0"/>
            <a:chExt cx="16093440" cy="1110996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6093439" cy="1110996"/>
            </a:xfrm>
            <a:custGeom>
              <a:avLst/>
              <a:gdLst/>
              <a:ahLst/>
              <a:cxnLst/>
              <a:rect l="l" t="t" r="r" b="b"/>
              <a:pathLst>
                <a:path w="16093439" h="1110996">
                  <a:moveTo>
                    <a:pt x="0" y="0"/>
                  </a:moveTo>
                  <a:lnTo>
                    <a:pt x="16093439" y="0"/>
                  </a:lnTo>
                  <a:lnTo>
                    <a:pt x="16093439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252" b="-23225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9525"/>
              <a:ext cx="16093440" cy="11205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8E6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Composite index on (</a:t>
              </a:r>
              <a:r>
                <a:rPr lang="en-US" sz="2400" err="1">
                  <a:solidFill>
                    <a:srgbClr val="C8E6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Available_quantity</a:t>
              </a:r>
              <a:r>
                <a:rPr lang="en-US" sz="2400">
                  <a:solidFill>
                    <a:srgbClr val="C8E6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2400" err="1">
                  <a:solidFill>
                    <a:srgbClr val="C8E6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Minimum_quantity</a:t>
              </a:r>
              <a:r>
                <a:rPr lang="en-US" sz="2400">
                  <a:solidFill>
                    <a:srgbClr val="C8E6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 enables fast low-stock scans.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14400" y="9546336"/>
            <a:ext cx="16459200" cy="548640"/>
            <a:chOff x="0" y="0"/>
            <a:chExt cx="21945600" cy="73152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4144" b="-53414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095612" y="9598390"/>
            <a:ext cx="16459200" cy="591503"/>
            <a:chOff x="0" y="-19050"/>
            <a:chExt cx="21945600" cy="788670"/>
          </a:xfrm>
        </p:grpSpPr>
        <p:sp>
          <p:nvSpPr>
            <p:cNvPr id="99" name="Freeform 99"/>
            <p:cNvSpPr/>
            <p:nvPr/>
          </p:nvSpPr>
          <p:spPr>
            <a:xfrm>
              <a:off x="0" y="1"/>
              <a:ext cx="21945600" cy="769619"/>
            </a:xfrm>
            <a:custGeom>
              <a:avLst/>
              <a:gdLst/>
              <a:ahLst/>
              <a:cxnLst/>
              <a:rect l="l" t="t" r="r" b="b"/>
              <a:pathLst>
                <a:path w="21945600" h="769620">
                  <a:moveTo>
                    <a:pt x="0" y="0"/>
                  </a:moveTo>
                  <a:lnTo>
                    <a:pt x="21945600" y="0"/>
                  </a:lnTo>
                  <a:lnTo>
                    <a:pt x="219456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5612" b="-50561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19050"/>
              <a:ext cx="219456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A7A8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Medical Laboratory System  •  Project 4  •  Database Systems</a:t>
              </a:r>
            </a:p>
          </p:txBody>
        </p:sp>
      </p:grpSp>
      <p:grpSp>
        <p:nvGrpSpPr>
          <p:cNvPr id="108" name="Group 86">
            <a:extLst>
              <a:ext uri="{FF2B5EF4-FFF2-40B4-BE49-F238E27FC236}">
                <a16:creationId xmlns:a16="http://schemas.microsoft.com/office/drawing/2014/main" id="{D4C4C377-54E1-82BE-580A-0CE964E1669B}"/>
              </a:ext>
            </a:extLst>
          </p:cNvPr>
          <p:cNvGrpSpPr/>
          <p:nvPr/>
        </p:nvGrpSpPr>
        <p:grpSpPr>
          <a:xfrm>
            <a:off x="1645920" y="9151144"/>
            <a:ext cx="3840480" cy="804672"/>
            <a:chOff x="0" y="0"/>
            <a:chExt cx="5120640" cy="1072896"/>
          </a:xfrm>
        </p:grpSpPr>
        <p:sp>
          <p:nvSpPr>
            <p:cNvPr id="109" name="Freeform 87">
              <a:extLst>
                <a:ext uri="{FF2B5EF4-FFF2-40B4-BE49-F238E27FC236}">
                  <a16:creationId xmlns:a16="http://schemas.microsoft.com/office/drawing/2014/main" id="{CC645F22-213C-C657-89C0-6B3A4DFC5D58}"/>
                </a:ext>
              </a:extLst>
            </p:cNvPr>
            <p:cNvSpPr/>
            <p:nvPr/>
          </p:nvSpPr>
          <p:spPr>
            <a:xfrm>
              <a:off x="0" y="0"/>
              <a:ext cx="5120640" cy="1072896"/>
            </a:xfrm>
            <a:custGeom>
              <a:avLst/>
              <a:gdLst/>
              <a:ahLst/>
              <a:cxnLst/>
              <a:rect l="l" t="t" r="r" b="b"/>
              <a:pathLst>
                <a:path w="5120640" h="1072896">
                  <a:moveTo>
                    <a:pt x="0" y="0"/>
                  </a:moveTo>
                  <a:lnTo>
                    <a:pt x="5120640" y="0"/>
                  </a:lnTo>
                  <a:lnTo>
                    <a:pt x="51206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932" b="-4293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63034E6-9627-AA64-7E7A-2711340DC5A2}"/>
              </a:ext>
            </a:extLst>
          </p:cNvPr>
          <p:cNvGrpSpPr/>
          <p:nvPr/>
        </p:nvGrpSpPr>
        <p:grpSpPr>
          <a:xfrm>
            <a:off x="914400" y="8750188"/>
            <a:ext cx="4572000" cy="847535"/>
            <a:chOff x="1645920" y="8705944"/>
            <a:chExt cx="4572000" cy="847535"/>
          </a:xfrm>
        </p:grpSpPr>
        <p:grpSp>
          <p:nvGrpSpPr>
            <p:cNvPr id="116" name="Group 79">
              <a:extLst>
                <a:ext uri="{FF2B5EF4-FFF2-40B4-BE49-F238E27FC236}">
                  <a16:creationId xmlns:a16="http://schemas.microsoft.com/office/drawing/2014/main" id="{51A7F127-36A0-6912-5253-CFF027313FED}"/>
                </a:ext>
              </a:extLst>
            </p:cNvPr>
            <p:cNvGrpSpPr/>
            <p:nvPr/>
          </p:nvGrpSpPr>
          <p:grpSpPr>
            <a:xfrm>
              <a:off x="1645920" y="8895111"/>
              <a:ext cx="512064" cy="512064"/>
              <a:chOff x="0" y="0"/>
              <a:chExt cx="682752" cy="682752"/>
            </a:xfrm>
          </p:grpSpPr>
          <p:sp>
            <p:nvSpPr>
              <p:cNvPr id="117" name="Freeform 80">
                <a:extLst>
                  <a:ext uri="{FF2B5EF4-FFF2-40B4-BE49-F238E27FC236}">
                    <a16:creationId xmlns:a16="http://schemas.microsoft.com/office/drawing/2014/main" id="{AD9FE4FC-96A2-C477-0B1B-EC1620AE1320}"/>
                  </a:ext>
                </a:extLst>
              </p:cNvPr>
              <p:cNvSpPr/>
              <p:nvPr/>
            </p:nvSpPr>
            <p:spPr>
              <a:xfrm>
                <a:off x="0" y="0"/>
                <a:ext cx="6827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682752" h="682752">
                    <a:moveTo>
                      <a:pt x="0" y="341376"/>
                    </a:moveTo>
                    <a:cubicBezTo>
                      <a:pt x="0" y="152781"/>
                      <a:pt x="152781" y="0"/>
                      <a:pt x="341376" y="0"/>
                    </a:cubicBezTo>
                    <a:cubicBezTo>
                      <a:pt x="529971" y="0"/>
                      <a:pt x="682752" y="152781"/>
                      <a:pt x="682752" y="341376"/>
                    </a:cubicBezTo>
                    <a:cubicBezTo>
                      <a:pt x="682752" y="529971"/>
                      <a:pt x="529971" y="682752"/>
                      <a:pt x="341376" y="682752"/>
                    </a:cubicBezTo>
                    <a:cubicBezTo>
                      <a:pt x="152781" y="682752"/>
                      <a:pt x="0" y="529971"/>
                      <a:pt x="0" y="341376"/>
                    </a:cubicBezTo>
                    <a:close/>
                  </a:path>
                </a:pathLst>
              </a:custGeom>
              <a:solidFill>
                <a:srgbClr val="00A8CC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18" name="Group 81">
              <a:extLst>
                <a:ext uri="{FF2B5EF4-FFF2-40B4-BE49-F238E27FC236}">
                  <a16:creationId xmlns:a16="http://schemas.microsoft.com/office/drawing/2014/main" id="{4F1A8CD0-F95B-E5DE-FFD7-E6CD31AEAB9D}"/>
                </a:ext>
              </a:extLst>
            </p:cNvPr>
            <p:cNvGrpSpPr/>
            <p:nvPr/>
          </p:nvGrpSpPr>
          <p:grpSpPr>
            <a:xfrm>
              <a:off x="1645920" y="8895111"/>
              <a:ext cx="512064" cy="512064"/>
              <a:chOff x="0" y="0"/>
              <a:chExt cx="682752" cy="682752"/>
            </a:xfrm>
          </p:grpSpPr>
          <p:sp>
            <p:nvSpPr>
              <p:cNvPr id="119" name="Freeform 82">
                <a:extLst>
                  <a:ext uri="{FF2B5EF4-FFF2-40B4-BE49-F238E27FC236}">
                    <a16:creationId xmlns:a16="http://schemas.microsoft.com/office/drawing/2014/main" id="{94AA1855-332E-202B-48F9-F80FDB1C945C}"/>
                  </a:ext>
                </a:extLst>
              </p:cNvPr>
              <p:cNvSpPr/>
              <p:nvPr/>
            </p:nvSpPr>
            <p:spPr>
              <a:xfrm>
                <a:off x="0" y="0"/>
                <a:ext cx="68275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682752" h="682752">
                    <a:moveTo>
                      <a:pt x="0" y="0"/>
                    </a:moveTo>
                    <a:lnTo>
                      <a:pt x="682752" y="0"/>
                    </a:lnTo>
                    <a:lnTo>
                      <a:pt x="68275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92" r="-78392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0" name="Group 83">
              <a:extLst>
                <a:ext uri="{FF2B5EF4-FFF2-40B4-BE49-F238E27FC236}">
                  <a16:creationId xmlns:a16="http://schemas.microsoft.com/office/drawing/2014/main" id="{025B7D1F-7EDA-4F36-B226-BB3E6AAF48EC}"/>
                </a:ext>
              </a:extLst>
            </p:cNvPr>
            <p:cNvGrpSpPr/>
            <p:nvPr/>
          </p:nvGrpSpPr>
          <p:grpSpPr>
            <a:xfrm>
              <a:off x="1645920" y="8859392"/>
              <a:ext cx="512064" cy="547783"/>
              <a:chOff x="0" y="0"/>
              <a:chExt cx="682752" cy="730377"/>
            </a:xfrm>
          </p:grpSpPr>
          <p:sp>
            <p:nvSpPr>
              <p:cNvPr id="121" name="Freeform 84">
                <a:extLst>
                  <a:ext uri="{FF2B5EF4-FFF2-40B4-BE49-F238E27FC236}">
                    <a16:creationId xmlns:a16="http://schemas.microsoft.com/office/drawing/2014/main" id="{190C78A3-C059-0B55-DD72-CAFE5F9E8083}"/>
                  </a:ext>
                </a:extLst>
              </p:cNvPr>
              <p:cNvSpPr/>
              <p:nvPr/>
            </p:nvSpPr>
            <p:spPr>
              <a:xfrm>
                <a:off x="0" y="0"/>
                <a:ext cx="682752" cy="730377"/>
              </a:xfrm>
              <a:custGeom>
                <a:avLst/>
                <a:gdLst/>
                <a:ahLst/>
                <a:cxnLst/>
                <a:rect l="l" t="t" r="r" b="b"/>
                <a:pathLst>
                  <a:path w="682752" h="730377">
                    <a:moveTo>
                      <a:pt x="0" y="0"/>
                    </a:moveTo>
                    <a:lnTo>
                      <a:pt x="682752" y="0"/>
                    </a:lnTo>
                    <a:lnTo>
                      <a:pt x="682752" y="730377"/>
                    </a:lnTo>
                    <a:lnTo>
                      <a:pt x="0" y="73037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87253" r="-87253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2" name="TextBox 85">
                <a:extLst>
                  <a:ext uri="{FF2B5EF4-FFF2-40B4-BE49-F238E27FC236}">
                    <a16:creationId xmlns:a16="http://schemas.microsoft.com/office/drawing/2014/main" id="{77E2715E-6CC8-3E3D-F234-EC7C4E34319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82752" cy="74942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1">
                    <a:solidFill>
                      <a:srgbClr val="0B1F3A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6</a:t>
                </a:r>
              </a:p>
            </p:txBody>
          </p:sp>
        </p:grpSp>
        <p:grpSp>
          <p:nvGrpSpPr>
            <p:cNvPr id="123" name="Group 86">
              <a:extLst>
                <a:ext uri="{FF2B5EF4-FFF2-40B4-BE49-F238E27FC236}">
                  <a16:creationId xmlns:a16="http://schemas.microsoft.com/office/drawing/2014/main" id="{ADD732F1-2527-EF08-AE6A-BAA216C60490}"/>
                </a:ext>
              </a:extLst>
            </p:cNvPr>
            <p:cNvGrpSpPr/>
            <p:nvPr/>
          </p:nvGrpSpPr>
          <p:grpSpPr>
            <a:xfrm>
              <a:off x="2377440" y="8748807"/>
              <a:ext cx="3840480" cy="804672"/>
              <a:chOff x="0" y="0"/>
              <a:chExt cx="5120640" cy="1072896"/>
            </a:xfrm>
          </p:grpSpPr>
          <p:sp>
            <p:nvSpPr>
              <p:cNvPr id="124" name="Freeform 87">
                <a:extLst>
                  <a:ext uri="{FF2B5EF4-FFF2-40B4-BE49-F238E27FC236}">
                    <a16:creationId xmlns:a16="http://schemas.microsoft.com/office/drawing/2014/main" id="{5EE444BC-128E-A440-9951-780B3AF6878B}"/>
                  </a:ext>
                </a:extLst>
              </p:cNvPr>
              <p:cNvSpPr/>
              <p:nvPr/>
            </p:nvSpPr>
            <p:spPr>
              <a:xfrm>
                <a:off x="0" y="0"/>
                <a:ext cx="5120640" cy="1072896"/>
              </a:xfrm>
              <a:custGeom>
                <a:avLst/>
                <a:gdLst/>
                <a:ahLst/>
                <a:cxnLst/>
                <a:rect l="l" t="t" r="r" b="b"/>
                <a:pathLst>
                  <a:path w="5120640" h="1072896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072896"/>
                    </a:lnTo>
                    <a:lnTo>
                      <a:pt x="0" y="10728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2932" b="-42932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5" name="Group 88">
              <a:extLst>
                <a:ext uri="{FF2B5EF4-FFF2-40B4-BE49-F238E27FC236}">
                  <a16:creationId xmlns:a16="http://schemas.microsoft.com/office/drawing/2014/main" id="{DBA2707D-D502-5127-999E-04D8FA3343B3}"/>
                </a:ext>
              </a:extLst>
            </p:cNvPr>
            <p:cNvGrpSpPr/>
            <p:nvPr/>
          </p:nvGrpSpPr>
          <p:grpSpPr>
            <a:xfrm>
              <a:off x="2377440" y="8705944"/>
              <a:ext cx="3840480" cy="847535"/>
              <a:chOff x="0" y="0"/>
              <a:chExt cx="5120640" cy="1130046"/>
            </a:xfrm>
          </p:grpSpPr>
          <p:sp>
            <p:nvSpPr>
              <p:cNvPr id="126" name="Freeform 89">
                <a:extLst>
                  <a:ext uri="{FF2B5EF4-FFF2-40B4-BE49-F238E27FC236}">
                    <a16:creationId xmlns:a16="http://schemas.microsoft.com/office/drawing/2014/main" id="{D110791D-D9E3-6BBF-43A4-1D5471249693}"/>
                  </a:ext>
                </a:extLst>
              </p:cNvPr>
              <p:cNvSpPr/>
              <p:nvPr/>
            </p:nvSpPr>
            <p:spPr>
              <a:xfrm>
                <a:off x="0" y="0"/>
                <a:ext cx="5120640" cy="1130046"/>
              </a:xfrm>
              <a:custGeom>
                <a:avLst/>
                <a:gdLst/>
                <a:ahLst/>
                <a:cxnLst/>
                <a:rect l="l" t="t" r="r" b="b"/>
                <a:pathLst>
                  <a:path w="5120640" h="1130046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130046"/>
                    </a:lnTo>
                    <a:lnTo>
                      <a:pt x="0" y="113004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8293" b="-38293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7" name="TextBox 90">
                <a:extLst>
                  <a:ext uri="{FF2B5EF4-FFF2-40B4-BE49-F238E27FC236}">
                    <a16:creationId xmlns:a16="http://schemas.microsoft.com/office/drawing/2014/main" id="{C61609F3-2A1D-EFC8-3854-D098AA73A34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5120640" cy="11490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1">
                    <a:solidFill>
                      <a:srgbClr val="00A8CC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Application / UI</a:t>
                </a:r>
              </a:p>
            </p:txBody>
          </p:sp>
        </p:grpSp>
      </p:grpSp>
      <p:sp>
        <p:nvSpPr>
          <p:cNvPr id="129" name="TextBox 95">
            <a:extLst>
              <a:ext uri="{FF2B5EF4-FFF2-40B4-BE49-F238E27FC236}">
                <a16:creationId xmlns:a16="http://schemas.microsoft.com/office/drawing/2014/main" id="{DF018CC4-1DC1-95F7-3627-F972F6F1B23A}"/>
              </a:ext>
            </a:extLst>
          </p:cNvPr>
          <p:cNvSpPr txBox="1"/>
          <p:nvPr/>
        </p:nvSpPr>
        <p:spPr>
          <a:xfrm>
            <a:off x="5669279" y="8757331"/>
            <a:ext cx="12070080" cy="8403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E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+ Tkinter desktop app with full CRUD and analytical reports.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02336" cy="10287000"/>
            <a:chOff x="0" y="0"/>
            <a:chExt cx="53644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448" cy="13716000"/>
            </a:xfrm>
            <a:custGeom>
              <a:avLst/>
              <a:gdLst/>
              <a:ahLst/>
              <a:cxnLst/>
              <a:rect l="l" t="t" r="r" b="b"/>
              <a:pathLst>
                <a:path w="536448" h="13716000">
                  <a:moveTo>
                    <a:pt x="0" y="0"/>
                  </a:moveTo>
                  <a:lnTo>
                    <a:pt x="536448" y="0"/>
                  </a:lnTo>
                  <a:lnTo>
                    <a:pt x="53644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A8C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5920" y="8247888"/>
            <a:ext cx="3840480" cy="804672"/>
            <a:chOff x="0" y="0"/>
            <a:chExt cx="5120640" cy="10728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20640" cy="1072896"/>
            </a:xfrm>
            <a:custGeom>
              <a:avLst/>
              <a:gdLst/>
              <a:ahLst/>
              <a:cxnLst/>
              <a:rect l="l" t="t" r="r" b="b"/>
              <a:pathLst>
                <a:path w="5120640" h="1072896">
                  <a:moveTo>
                    <a:pt x="0" y="0"/>
                  </a:moveTo>
                  <a:lnTo>
                    <a:pt x="5120640" y="0"/>
                  </a:lnTo>
                  <a:lnTo>
                    <a:pt x="51206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932" b="-4293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69280" y="8247888"/>
            <a:ext cx="12070080" cy="804672"/>
            <a:chOff x="0" y="0"/>
            <a:chExt cx="16093440" cy="10728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093439" cy="1072896"/>
            </a:xfrm>
            <a:custGeom>
              <a:avLst/>
              <a:gdLst/>
              <a:ahLst/>
              <a:cxnLst/>
              <a:rect l="l" t="t" r="r" b="b"/>
              <a:pathLst>
                <a:path w="16093439" h="1072896">
                  <a:moveTo>
                    <a:pt x="0" y="0"/>
                  </a:moveTo>
                  <a:lnTo>
                    <a:pt x="16093439" y="0"/>
                  </a:lnTo>
                  <a:lnTo>
                    <a:pt x="160934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072" b="-24207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9546336"/>
            <a:ext cx="16459200" cy="548640"/>
            <a:chOff x="0" y="0"/>
            <a:chExt cx="219456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4144" b="-53414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9517761"/>
            <a:ext cx="16459200" cy="577215"/>
            <a:chOff x="0" y="0"/>
            <a:chExt cx="21945600" cy="7696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769620"/>
            </a:xfrm>
            <a:custGeom>
              <a:avLst/>
              <a:gdLst/>
              <a:ahLst/>
              <a:cxnLst/>
              <a:rect l="l" t="t" r="r" b="b"/>
              <a:pathLst>
                <a:path w="21945600" h="769620">
                  <a:moveTo>
                    <a:pt x="0" y="0"/>
                  </a:moveTo>
                  <a:lnTo>
                    <a:pt x="21945600" y="0"/>
                  </a:lnTo>
                  <a:lnTo>
                    <a:pt x="219456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5612" b="-50561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19456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A7A8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Medical Laboratory System  •  Project 4  •  Database Systems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238081" y="4910138"/>
            <a:ext cx="5811838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  <a:spcBef>
                <a:spcPct val="0"/>
              </a:spcBef>
            </a:pPr>
            <a:r>
              <a:rPr lang="en-US" sz="7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68ec24-61e6-4d96-8fd3-596e986f820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9BC03C6AD537449C3B6BD4136461F5" ma:contentTypeVersion="10" ma:contentTypeDescription="Create a new document." ma:contentTypeScope="" ma:versionID="21e25fea47160fae5380e9dd68dd079a">
  <xsd:schema xmlns:xsd="http://www.w3.org/2001/XMLSchema" xmlns:xs="http://www.w3.org/2001/XMLSchema" xmlns:p="http://schemas.microsoft.com/office/2006/metadata/properties" xmlns:ns3="7168ec24-61e6-4d96-8fd3-596e986f8205" targetNamespace="http://schemas.microsoft.com/office/2006/metadata/properties" ma:root="true" ma:fieldsID="ac5b66d4005e6606b8f381da5fd6c296" ns3:_="">
    <xsd:import namespace="7168ec24-61e6-4d96-8fd3-596e986f820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68ec24-61e6-4d96-8fd3-596e986f820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3A2383-2143-44DF-8222-886F3541CA8A}">
  <ds:schemaRefs>
    <ds:schemaRef ds:uri="7168ec24-61e6-4d96-8fd3-596e986f82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F70433A-D848-4C29-A91F-14C787661556}">
  <ds:schemaRefs>
    <ds:schemaRef ds:uri="7168ec24-61e6-4d96-8fd3-596e986f820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5EA669-06DD-47CD-BB1C-F3A8FF5D83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TABLE</dc:title>
  <cp:revision>2</cp:revision>
  <dcterms:created xsi:type="dcterms:W3CDTF">2006-08-16T00:00:00Z</dcterms:created>
  <dcterms:modified xsi:type="dcterms:W3CDTF">2026-05-26T04:15:32Z</dcterms:modified>
  <dc:identifier>DAHKoQ5OqqI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0x010100B09BC03C6AD537449C3B6BD4136461F5</vt:lpwstr>
  </property>
</Properties>
</file>